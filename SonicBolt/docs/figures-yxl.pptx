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4aa47739-3d85-4a94-94b9-649406e753ad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pwconv" id="{c5c68fce-e216-402e-a62d-1fe2708a7b64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217" userDrawn="1">
          <p15:clr>
            <a:srgbClr val="A4A3A4"/>
          </p15:clr>
        </p15:guide>
        <p15:guide id="2" pos="38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E7FE"/>
    <a:srgbClr val="EDD0FE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217"/>
        <p:guide pos="381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70.xml"/><Relationship Id="rId7" Type="http://schemas.openxmlformats.org/officeDocument/2006/relationships/tags" Target="../tags/tag69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4" Type="http://schemas.openxmlformats.org/officeDocument/2006/relationships/tags" Target="../tags/tag74.xml"/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" Type="http://schemas.openxmlformats.org/officeDocument/2006/relationships/tags" Target="../tags/tag7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tags" Target="../tags/tag7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1.xml"/><Relationship Id="rId1" Type="http://schemas.openxmlformats.org/officeDocument/2006/relationships/tags" Target="../tags/tag8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3.xml"/><Relationship Id="rId1" Type="http://schemas.openxmlformats.org/officeDocument/2006/relationships/tags" Target="../tags/tag8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5.xml"/><Relationship Id="rId1" Type="http://schemas.openxmlformats.org/officeDocument/2006/relationships/tags" Target="../tags/tag84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8.xml"/><Relationship Id="rId2" Type="http://schemas.openxmlformats.org/officeDocument/2006/relationships/tags" Target="../tags/tag87.xml"/><Relationship Id="rId1" Type="http://schemas.openxmlformats.org/officeDocument/2006/relationships/tags" Target="../tags/tag86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97.xml"/><Relationship Id="rId8" Type="http://schemas.openxmlformats.org/officeDocument/2006/relationships/tags" Target="../tags/tag96.xml"/><Relationship Id="rId7" Type="http://schemas.openxmlformats.org/officeDocument/2006/relationships/tags" Target="../tags/tag95.xml"/><Relationship Id="rId6" Type="http://schemas.openxmlformats.org/officeDocument/2006/relationships/tags" Target="../tags/tag94.xml"/><Relationship Id="rId5" Type="http://schemas.openxmlformats.org/officeDocument/2006/relationships/tags" Target="../tags/tag93.xml"/><Relationship Id="rId4" Type="http://schemas.openxmlformats.org/officeDocument/2006/relationships/tags" Target="../tags/tag92.xml"/><Relationship Id="rId3" Type="http://schemas.openxmlformats.org/officeDocument/2006/relationships/tags" Target="../tags/tag91.xml"/><Relationship Id="rId2" Type="http://schemas.openxmlformats.org/officeDocument/2006/relationships/tags" Target="../tags/tag90.xml"/><Relationship Id="rId18" Type="http://schemas.openxmlformats.org/officeDocument/2006/relationships/slideLayout" Target="../slideLayouts/slideLayout2.xml"/><Relationship Id="rId17" Type="http://schemas.openxmlformats.org/officeDocument/2006/relationships/tags" Target="../tags/tag105.xml"/><Relationship Id="rId16" Type="http://schemas.openxmlformats.org/officeDocument/2006/relationships/tags" Target="../tags/tag104.xml"/><Relationship Id="rId15" Type="http://schemas.openxmlformats.org/officeDocument/2006/relationships/tags" Target="../tags/tag103.xml"/><Relationship Id="rId14" Type="http://schemas.openxmlformats.org/officeDocument/2006/relationships/tags" Target="../tags/tag102.xml"/><Relationship Id="rId13" Type="http://schemas.openxmlformats.org/officeDocument/2006/relationships/tags" Target="../tags/tag101.xml"/><Relationship Id="rId12" Type="http://schemas.openxmlformats.org/officeDocument/2006/relationships/tags" Target="../tags/tag100.xml"/><Relationship Id="rId11" Type="http://schemas.openxmlformats.org/officeDocument/2006/relationships/tags" Target="../tags/tag99.xml"/><Relationship Id="rId10" Type="http://schemas.openxmlformats.org/officeDocument/2006/relationships/tags" Target="../tags/tag98.xml"/><Relationship Id="rId1" Type="http://schemas.openxmlformats.org/officeDocument/2006/relationships/tags" Target="../tags/tag89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14.xml"/><Relationship Id="rId8" Type="http://schemas.openxmlformats.org/officeDocument/2006/relationships/tags" Target="../tags/tag113.xml"/><Relationship Id="rId7" Type="http://schemas.openxmlformats.org/officeDocument/2006/relationships/tags" Target="../tags/tag112.xml"/><Relationship Id="rId6" Type="http://schemas.openxmlformats.org/officeDocument/2006/relationships/tags" Target="../tags/tag111.xml"/><Relationship Id="rId5" Type="http://schemas.openxmlformats.org/officeDocument/2006/relationships/tags" Target="../tags/tag110.xml"/><Relationship Id="rId4" Type="http://schemas.openxmlformats.org/officeDocument/2006/relationships/tags" Target="../tags/tag109.xml"/><Relationship Id="rId3" Type="http://schemas.openxmlformats.org/officeDocument/2006/relationships/tags" Target="../tags/tag108.xml"/><Relationship Id="rId26" Type="http://schemas.openxmlformats.org/officeDocument/2006/relationships/slideLayout" Target="../slideLayouts/slideLayout2.xml"/><Relationship Id="rId25" Type="http://schemas.openxmlformats.org/officeDocument/2006/relationships/tags" Target="../tags/tag130.xml"/><Relationship Id="rId24" Type="http://schemas.openxmlformats.org/officeDocument/2006/relationships/tags" Target="../tags/tag129.xml"/><Relationship Id="rId23" Type="http://schemas.openxmlformats.org/officeDocument/2006/relationships/tags" Target="../tags/tag128.xml"/><Relationship Id="rId22" Type="http://schemas.openxmlformats.org/officeDocument/2006/relationships/tags" Target="../tags/tag127.xml"/><Relationship Id="rId21" Type="http://schemas.openxmlformats.org/officeDocument/2006/relationships/tags" Target="../tags/tag126.xml"/><Relationship Id="rId20" Type="http://schemas.openxmlformats.org/officeDocument/2006/relationships/tags" Target="../tags/tag125.xml"/><Relationship Id="rId2" Type="http://schemas.openxmlformats.org/officeDocument/2006/relationships/tags" Target="../tags/tag107.xml"/><Relationship Id="rId19" Type="http://schemas.openxmlformats.org/officeDocument/2006/relationships/tags" Target="../tags/tag124.xml"/><Relationship Id="rId18" Type="http://schemas.openxmlformats.org/officeDocument/2006/relationships/tags" Target="../tags/tag123.xml"/><Relationship Id="rId17" Type="http://schemas.openxmlformats.org/officeDocument/2006/relationships/tags" Target="../tags/tag122.xml"/><Relationship Id="rId16" Type="http://schemas.openxmlformats.org/officeDocument/2006/relationships/tags" Target="../tags/tag121.xml"/><Relationship Id="rId15" Type="http://schemas.openxmlformats.org/officeDocument/2006/relationships/tags" Target="../tags/tag120.xml"/><Relationship Id="rId14" Type="http://schemas.openxmlformats.org/officeDocument/2006/relationships/tags" Target="../tags/tag119.xml"/><Relationship Id="rId13" Type="http://schemas.openxmlformats.org/officeDocument/2006/relationships/tags" Target="../tags/tag118.xml"/><Relationship Id="rId12" Type="http://schemas.openxmlformats.org/officeDocument/2006/relationships/tags" Target="../tags/tag117.xml"/><Relationship Id="rId11" Type="http://schemas.openxmlformats.org/officeDocument/2006/relationships/tags" Target="../tags/tag116.xml"/><Relationship Id="rId10" Type="http://schemas.openxmlformats.org/officeDocument/2006/relationships/tags" Target="../tags/tag115.xml"/><Relationship Id="rId1" Type="http://schemas.openxmlformats.org/officeDocument/2006/relationships/tags" Target="../tags/tag10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08305" y="1661160"/>
            <a:ext cx="1524000" cy="684530"/>
          </a:xfrm>
        </p:spPr>
        <p:txBody>
          <a:bodyPr>
            <a:normAutofit/>
          </a:bodyPr>
          <a:p>
            <a:r>
              <a:rPr lang="zh-CN" altLang="en-US" sz="2400"/>
              <a:t>系统</a:t>
            </a:r>
            <a:r>
              <a:rPr lang="zh-CN" altLang="en-US" sz="2400"/>
              <a:t>级</a:t>
            </a:r>
            <a:endParaRPr lang="zh-CN" altLang="en-US" sz="2400"/>
          </a:p>
        </p:txBody>
      </p:sp>
      <p:sp>
        <p:nvSpPr>
          <p:cNvPr id="5" name="标题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3020060" y="2644140"/>
            <a:ext cx="1524000" cy="68453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/>
              <a:t>计算</a:t>
            </a:r>
            <a:endParaRPr lang="zh-CN" altLang="en-US" sz="2400"/>
          </a:p>
        </p:txBody>
      </p:sp>
      <p:sp>
        <p:nvSpPr>
          <p:cNvPr id="6" name="标题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7665" y="4790440"/>
            <a:ext cx="8121650" cy="68453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/>
              <a:t>单元级</a:t>
            </a:r>
            <a:r>
              <a:rPr lang="en-US" altLang="zh-CN" sz="2400"/>
              <a:t> </a:t>
            </a:r>
            <a:r>
              <a:rPr lang="zh-CN" altLang="en-US" sz="2400"/>
              <a:t>寄存器、</a:t>
            </a:r>
            <a:r>
              <a:rPr lang="zh-CN" altLang="en-US" sz="2400"/>
              <a:t>储存器</a:t>
            </a:r>
            <a:endParaRPr lang="zh-CN" altLang="en-US" sz="2400"/>
          </a:p>
        </p:txBody>
      </p:sp>
      <p:sp>
        <p:nvSpPr>
          <p:cNvPr id="7" name="圆角矩形 6"/>
          <p:cNvSpPr/>
          <p:nvPr/>
        </p:nvSpPr>
        <p:spPr>
          <a:xfrm>
            <a:off x="4289425" y="1525905"/>
            <a:ext cx="2171700" cy="75184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800">
                <a:solidFill>
                  <a:schemeClr val="tx1"/>
                </a:solidFill>
              </a:rPr>
              <a:t>CNN_top.v</a:t>
            </a:r>
            <a:endParaRPr lang="en-US" altLang="zh-CN" sz="2800">
              <a:solidFill>
                <a:schemeClr val="tx1"/>
              </a:solidFill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1534795" y="3249930"/>
            <a:ext cx="4048760" cy="63627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>
                <a:solidFill>
                  <a:schemeClr val="tx1"/>
                </a:solidFill>
              </a:rPr>
              <a:t>SA1.v </a:t>
            </a:r>
            <a:r>
              <a:rPr lang="en-US" altLang="zh-CN" sz="2400">
                <a:solidFill>
                  <a:schemeClr val="tx1"/>
                </a:solidFill>
                <a:sym typeface="+mn-ea"/>
              </a:rPr>
              <a:t>SA_2.v SA_3.v</a:t>
            </a:r>
            <a:r>
              <a:rPr lang="zh-CN" altLang="en-US" sz="2400">
                <a:solidFill>
                  <a:schemeClr val="tx1"/>
                </a:solidFill>
                <a:sym typeface="+mn-ea"/>
              </a:rPr>
              <a:t>卷积</a:t>
            </a:r>
            <a:endParaRPr lang="zh-CN" altLang="en-US" sz="2400">
              <a:solidFill>
                <a:schemeClr val="tx1"/>
              </a:solidFill>
              <a:sym typeface="+mn-ea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5732780" y="3249930"/>
            <a:ext cx="4405630" cy="63627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>
                <a:solidFill>
                  <a:schemeClr val="tx1"/>
                </a:solidFill>
              </a:rPr>
              <a:t>maxpool_v2.v  relu.v SigLUT.v</a:t>
            </a: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11" name="标题 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367665" y="3249930"/>
            <a:ext cx="1524000" cy="68453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/>
              <a:t>算子级</a:t>
            </a:r>
            <a:endParaRPr lang="zh-CN" altLang="en-US" sz="2400"/>
          </a:p>
        </p:txBody>
      </p:sp>
      <p:sp>
        <p:nvSpPr>
          <p:cNvPr id="14" name="标题 1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7788275" y="2644140"/>
            <a:ext cx="1524000" cy="68453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/>
              <a:t>处理</a:t>
            </a:r>
            <a:endParaRPr lang="zh-CN" altLang="en-US" sz="2400"/>
          </a:p>
        </p:txBody>
      </p:sp>
      <p:sp>
        <p:nvSpPr>
          <p:cNvPr id="15" name="标题 1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10783570" y="2644140"/>
            <a:ext cx="1524000" cy="68453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/>
              <a:t>量化</a:t>
            </a:r>
            <a:endParaRPr lang="zh-CN" altLang="en-US" sz="2400"/>
          </a:p>
        </p:txBody>
      </p:sp>
      <p:sp>
        <p:nvSpPr>
          <p:cNvPr id="16" name="圆角矩形 15"/>
          <p:cNvSpPr/>
          <p:nvPr/>
        </p:nvSpPr>
        <p:spPr>
          <a:xfrm>
            <a:off x="10287635" y="3249930"/>
            <a:ext cx="1831340" cy="63627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>
                <a:solidFill>
                  <a:schemeClr val="tx1"/>
                </a:solidFill>
              </a:rPr>
              <a:t>rescale_*.v</a:t>
            </a: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17" name="标题 1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367665" y="530860"/>
            <a:ext cx="3339465" cy="684530"/>
          </a:xfrm>
          <a:prstGeom prst="rect">
            <a:avLst/>
          </a:prstGeom>
        </p:spPr>
        <p:txBody>
          <a:bodyPr vert="horz" lIns="90000" tIns="46800" rIns="90000" bIns="46800" rtlCol="0" anchor="ctr" anchorCtr="0"/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>
                <a:solidFill>
                  <a:schemeClr val="accent5">
                    <a:lumMod val="60000"/>
                    <a:lumOff val="40000"/>
                  </a:schemeClr>
                </a:solidFill>
              </a:rPr>
              <a:t>助教代码框架梳理</a:t>
            </a:r>
            <a:endParaRPr lang="zh-CN" altLang="en-US" sz="280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92735" y="320040"/>
            <a:ext cx="4219575" cy="684530"/>
          </a:xfrm>
          <a:prstGeom prst="rect">
            <a:avLst/>
          </a:prstGeom>
        </p:spPr>
        <p:txBody>
          <a:bodyPr vert="horz" lIns="90000" tIns="46800" rIns="90000" bIns="46800" rtlCol="0" anchor="ctr" anchorCtr="0"/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>
                <a:solidFill>
                  <a:schemeClr val="accent5">
                    <a:lumMod val="60000"/>
                    <a:lumOff val="40000"/>
                  </a:schemeClr>
                </a:solidFill>
              </a:rPr>
              <a:t>Conv1</a:t>
            </a:r>
            <a:r>
              <a:rPr lang="zh-CN" altLang="en-US" sz="2800">
                <a:solidFill>
                  <a:schemeClr val="accent5">
                    <a:lumMod val="60000"/>
                    <a:lumOff val="40000"/>
                  </a:schemeClr>
                </a:solidFill>
              </a:rPr>
              <a:t>重复</a:t>
            </a:r>
            <a:r>
              <a:rPr lang="zh-CN" altLang="en-US" sz="2800">
                <a:solidFill>
                  <a:schemeClr val="accent5">
                    <a:lumMod val="60000"/>
                    <a:lumOff val="40000"/>
                  </a:schemeClr>
                </a:solidFill>
              </a:rPr>
              <a:t>计算分析</a:t>
            </a:r>
            <a:endParaRPr lang="zh-CN" altLang="en-US" sz="280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2"/>
            </p:custDataLst>
          </p:nvPr>
        </p:nvGraphicFramePr>
        <p:xfrm>
          <a:off x="4384040" y="380365"/>
          <a:ext cx="4102100" cy="60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0210"/>
                <a:gridCol w="410210"/>
                <a:gridCol w="410210"/>
                <a:gridCol w="410210"/>
                <a:gridCol w="410210"/>
                <a:gridCol w="410210"/>
                <a:gridCol w="410210"/>
                <a:gridCol w="410210"/>
                <a:gridCol w="410210"/>
                <a:gridCol w="41021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EDE7FE"/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3326130" y="3154680"/>
            <a:ext cx="7410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重复</a:t>
            </a:r>
            <a:r>
              <a:rPr lang="en-US" altLang="zh-CN"/>
              <a:t>12</a:t>
            </a:r>
            <a:r>
              <a:rPr lang="zh-CN" altLang="en-US"/>
              <a:t>行</a:t>
            </a:r>
            <a:endParaRPr lang="zh-CN" altLang="en-US"/>
          </a:p>
        </p:txBody>
      </p:sp>
      <p:sp>
        <p:nvSpPr>
          <p:cNvPr id="12" name="左大括号 11"/>
          <p:cNvSpPr/>
          <p:nvPr/>
        </p:nvSpPr>
        <p:spPr>
          <a:xfrm>
            <a:off x="4104005" y="1361440"/>
            <a:ext cx="162560" cy="423164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13" name="表格 12"/>
          <p:cNvGraphicFramePr/>
          <p:nvPr>
            <p:custDataLst>
              <p:tags r:id="rId3"/>
            </p:custDataLst>
          </p:nvPr>
        </p:nvGraphicFramePr>
        <p:xfrm>
          <a:off x="8803005" y="1174115"/>
          <a:ext cx="2769235" cy="419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5605"/>
                <a:gridCol w="395605"/>
                <a:gridCol w="395605"/>
                <a:gridCol w="395605"/>
                <a:gridCol w="395605"/>
                <a:gridCol w="395605"/>
                <a:gridCol w="39560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8" name="圆角矩形 17"/>
          <p:cNvSpPr/>
          <p:nvPr/>
        </p:nvSpPr>
        <p:spPr>
          <a:xfrm>
            <a:off x="5662930" y="1182370"/>
            <a:ext cx="2748280" cy="4116705"/>
          </a:xfrm>
          <a:prstGeom prst="roundRect">
            <a:avLst/>
          </a:prstGeom>
          <a:noFill/>
          <a:ln w="28575">
            <a:solidFill>
              <a:schemeClr val="accent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EDE7FE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圆角矩形 18"/>
          <p:cNvSpPr/>
          <p:nvPr/>
        </p:nvSpPr>
        <p:spPr>
          <a:xfrm>
            <a:off x="5227320" y="1182370"/>
            <a:ext cx="2748280" cy="4116705"/>
          </a:xfrm>
          <a:prstGeom prst="roundRect">
            <a:avLst/>
          </a:prstGeom>
          <a:noFill/>
          <a:ln w="28575">
            <a:solidFill>
              <a:schemeClr val="accent1">
                <a:lumMod val="60000"/>
                <a:lumOff val="40000"/>
              </a:schemeClr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EDE7FE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圆角矩形 19"/>
          <p:cNvSpPr/>
          <p:nvPr/>
        </p:nvSpPr>
        <p:spPr>
          <a:xfrm>
            <a:off x="4861560" y="1182370"/>
            <a:ext cx="2748280" cy="4116705"/>
          </a:xfrm>
          <a:prstGeom prst="roundRect">
            <a:avLst/>
          </a:prstGeom>
          <a:noFill/>
          <a:ln w="28575">
            <a:solidFill>
              <a:schemeClr val="accent1">
                <a:lumMod val="40000"/>
                <a:lumOff val="60000"/>
              </a:schemeClr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EDE7FE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圆角矩形 20"/>
          <p:cNvSpPr/>
          <p:nvPr/>
        </p:nvSpPr>
        <p:spPr>
          <a:xfrm>
            <a:off x="4438015" y="1174115"/>
            <a:ext cx="2748280" cy="4116705"/>
          </a:xfrm>
          <a:prstGeom prst="roundRect">
            <a:avLst/>
          </a:prstGeom>
          <a:noFill/>
          <a:ln w="28575">
            <a:solidFill>
              <a:schemeClr val="accent1">
                <a:lumMod val="20000"/>
                <a:lumOff val="80000"/>
              </a:schemeClr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EDE7FE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292735" y="854710"/>
            <a:ext cx="3143885" cy="3692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问题：</a:t>
            </a:r>
            <a:endParaRPr lang="zh-CN" altLang="en-US"/>
          </a:p>
          <a:p>
            <a:r>
              <a:rPr lang="en-US" altLang="zh-CN"/>
              <a:t>8/16</a:t>
            </a:r>
            <a:r>
              <a:rPr lang="zh-CN" altLang="en-US"/>
              <a:t>重复</a:t>
            </a:r>
            <a:endParaRPr lang="zh-CN" altLang="en-US"/>
          </a:p>
          <a:p>
            <a:r>
              <a:rPr lang="zh-CN" altLang="en-US"/>
              <a:t>解决：</a:t>
            </a:r>
            <a:endParaRPr lang="zh-CN" altLang="en-US"/>
          </a:p>
          <a:p>
            <a:r>
              <a:rPr lang="en-US" altLang="zh-CN"/>
              <a:t>line buffer</a:t>
            </a:r>
            <a:r>
              <a:rPr lang="zh-CN" altLang="en-US"/>
              <a:t>（老办法，</a:t>
            </a:r>
            <a:r>
              <a:rPr lang="zh-CN" altLang="en-US"/>
              <a:t>寄存器多）</a:t>
            </a:r>
            <a:endParaRPr lang="en-US" altLang="zh-CN"/>
          </a:p>
          <a:p>
            <a:r>
              <a:rPr lang="zh-CN" altLang="en-US"/>
              <a:t>输出驻留（</a:t>
            </a:r>
            <a:r>
              <a:rPr lang="zh-CN" altLang="en-US">
                <a:sym typeface="+mn-ea"/>
              </a:rPr>
              <a:t>①</a:t>
            </a:r>
            <a:r>
              <a:rPr lang="en-US" altLang="zh-CN"/>
              <a:t>16</a:t>
            </a:r>
            <a:r>
              <a:rPr lang="zh-CN" altLang="en-US"/>
              <a:t>组乘单元编号，让某些号的计算结果留在计算单元里</a:t>
            </a:r>
            <a:r>
              <a:rPr lang="en-US" altLang="zh-CN"/>
              <a:t>——</a:t>
            </a:r>
            <a:r>
              <a:rPr lang="zh-CN" altLang="en-US"/>
              <a:t>下一次直接复用，依赖于乘法单元的位置的对应②</a:t>
            </a:r>
            <a:r>
              <a:rPr lang="en-US" altLang="zh-CN"/>
              <a:t>16</a:t>
            </a:r>
            <a:r>
              <a:rPr lang="zh-CN" altLang="en-US"/>
              <a:t>组乘法单元再分上下两组，下组只在第一次中需要</a:t>
            </a:r>
            <a:r>
              <a:rPr lang="zh-CN" altLang="en-US"/>
              <a:t>计算）</a:t>
            </a:r>
            <a:endParaRPr lang="zh-CN" altLang="en-US"/>
          </a:p>
          <a:p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9827895" y="717550"/>
            <a:ext cx="11690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卷积</a:t>
            </a:r>
            <a:r>
              <a:rPr lang="zh-CN" altLang="en-US"/>
              <a:t>核</a:t>
            </a:r>
            <a:endParaRPr lang="zh-CN" altLang="en-US"/>
          </a:p>
        </p:txBody>
      </p:sp>
      <p:graphicFrame>
        <p:nvGraphicFramePr>
          <p:cNvPr id="25" name="表格 24"/>
          <p:cNvGraphicFramePr/>
          <p:nvPr>
            <p:custDataLst>
              <p:tags r:id="rId4"/>
            </p:custDataLst>
          </p:nvPr>
        </p:nvGraphicFramePr>
        <p:xfrm>
          <a:off x="113030" y="4325620"/>
          <a:ext cx="175768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420"/>
                <a:gridCol w="439420"/>
                <a:gridCol w="439420"/>
                <a:gridCol w="43942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6" name="文本框 25"/>
          <p:cNvSpPr txBox="1"/>
          <p:nvPr/>
        </p:nvSpPr>
        <p:spPr>
          <a:xfrm>
            <a:off x="1230630" y="5910580"/>
            <a:ext cx="16103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乘法</a:t>
            </a:r>
            <a:r>
              <a:rPr lang="zh-CN" altLang="en-US"/>
              <a:t>单元</a:t>
            </a:r>
            <a:endParaRPr lang="zh-CN" altLang="en-US"/>
          </a:p>
        </p:txBody>
      </p:sp>
      <p:graphicFrame>
        <p:nvGraphicFramePr>
          <p:cNvPr id="27" name="表格 26"/>
          <p:cNvGraphicFramePr/>
          <p:nvPr>
            <p:custDataLst>
              <p:tags r:id="rId5"/>
            </p:custDataLst>
          </p:nvPr>
        </p:nvGraphicFramePr>
        <p:xfrm>
          <a:off x="2228850" y="4325620"/>
          <a:ext cx="175768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420"/>
                <a:gridCol w="439420"/>
                <a:gridCol w="439420"/>
                <a:gridCol w="439420"/>
              </a:tblGrid>
              <a:tr h="38100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b="0">
                        <a:solidFill>
                          <a:schemeClr val="dk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b="0">
                        <a:solidFill>
                          <a:schemeClr val="dk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b="0">
                        <a:solidFill>
                          <a:schemeClr val="dk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b="0">
                        <a:solidFill>
                          <a:schemeClr val="dk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  <p:custDataLst>
      <p:tags r:id="rId6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92735" y="320040"/>
            <a:ext cx="4219575" cy="684530"/>
          </a:xfrm>
          <a:prstGeom prst="rect">
            <a:avLst/>
          </a:prstGeom>
        </p:spPr>
        <p:txBody>
          <a:bodyPr vert="horz" lIns="90000" tIns="46800" rIns="90000" bIns="46800" rtlCol="0" anchor="ctr" anchorCtr="0"/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>
                <a:solidFill>
                  <a:schemeClr val="accent5">
                    <a:lumMod val="60000"/>
                    <a:lumOff val="40000"/>
                  </a:schemeClr>
                </a:solidFill>
              </a:rPr>
              <a:t>Conv1</a:t>
            </a:r>
            <a:r>
              <a:rPr lang="zh-CN" altLang="en-US" sz="2800">
                <a:solidFill>
                  <a:schemeClr val="accent5">
                    <a:lumMod val="60000"/>
                    <a:lumOff val="40000"/>
                  </a:schemeClr>
                </a:solidFill>
              </a:rPr>
              <a:t>总线、扇出</a:t>
            </a:r>
            <a:r>
              <a:rPr lang="zh-CN" altLang="en-US" sz="2800">
                <a:solidFill>
                  <a:schemeClr val="accent5">
                    <a:lumMod val="60000"/>
                    <a:lumOff val="40000"/>
                  </a:schemeClr>
                </a:solidFill>
              </a:rPr>
              <a:t>大</a:t>
            </a:r>
            <a:endParaRPr lang="zh-CN" altLang="en-US" sz="280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2"/>
            </p:custDataLst>
          </p:nvPr>
        </p:nvGraphicFramePr>
        <p:xfrm>
          <a:off x="4512310" y="670560"/>
          <a:ext cx="4013200" cy="590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320"/>
                <a:gridCol w="401320"/>
                <a:gridCol w="401320"/>
                <a:gridCol w="401320"/>
                <a:gridCol w="401320"/>
                <a:gridCol w="401320"/>
                <a:gridCol w="401320"/>
                <a:gridCol w="401320"/>
                <a:gridCol w="401320"/>
                <a:gridCol w="401320"/>
              </a:tblGrid>
              <a:tr h="368935"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68935"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68935"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68935"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68935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68935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68935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68935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68935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68935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68935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68935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68935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68935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68935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68935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3601720" y="3201035"/>
            <a:ext cx="8572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line </a:t>
            </a:r>
            <a:r>
              <a:rPr lang="en-US" altLang="zh-CN"/>
              <a:t>buffer</a:t>
            </a:r>
            <a:endParaRPr lang="en-US" altLang="zh-CN"/>
          </a:p>
        </p:txBody>
      </p:sp>
      <p:sp>
        <p:nvSpPr>
          <p:cNvPr id="12" name="左大括号 11"/>
          <p:cNvSpPr/>
          <p:nvPr/>
        </p:nvSpPr>
        <p:spPr>
          <a:xfrm>
            <a:off x="4312285" y="859155"/>
            <a:ext cx="156845" cy="5504180"/>
          </a:xfrm>
          <a:prstGeom prst="leftBrace">
            <a:avLst>
              <a:gd name="adj1" fmla="val 0"/>
              <a:gd name="adj2" fmla="val 50000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579755" y="874395"/>
            <a:ext cx="2968625" cy="61855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问题：</a:t>
            </a:r>
            <a:endParaRPr lang="zh-CN" altLang="en-US"/>
          </a:p>
          <a:p>
            <a:r>
              <a:rPr lang="zh-CN" altLang="en-US"/>
              <a:t>数据</a:t>
            </a:r>
            <a:r>
              <a:rPr lang="zh-CN" altLang="en-US"/>
              <a:t>总线大</a:t>
            </a:r>
            <a:endParaRPr lang="zh-CN" altLang="en-US"/>
          </a:p>
          <a:p>
            <a:r>
              <a:rPr lang="zh-CN" altLang="en-US"/>
              <a:t>解决：</a:t>
            </a:r>
            <a:endParaRPr lang="zh-CN" altLang="en-US"/>
          </a:p>
          <a:p>
            <a:r>
              <a:rPr lang="en-US" altLang="zh-CN"/>
              <a:t>line buffer</a:t>
            </a:r>
            <a:r>
              <a:rPr lang="zh-CN" altLang="en-US"/>
              <a:t>（</a:t>
            </a:r>
            <a:r>
              <a:rPr lang="en-US" altLang="zh-CN">
                <a:sym typeface="+mn-ea"/>
              </a:rPr>
              <a:t>16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10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8</a:t>
            </a:r>
            <a:r>
              <a:rPr lang="zh-CN" altLang="en-US">
                <a:sym typeface="+mn-ea"/>
              </a:rPr>
              <a:t>大小</a:t>
            </a:r>
            <a:r>
              <a:rPr lang="en-US" altLang="zh-CN">
                <a:sym typeface="+mn-ea"/>
              </a:rPr>
              <a:t>0.16KB</a:t>
            </a:r>
            <a:r>
              <a:rPr lang="zh-CN" altLang="en-US"/>
              <a:t>）第一次读</a:t>
            </a:r>
            <a:r>
              <a:rPr lang="en-US" altLang="zh-CN"/>
              <a:t>14</a:t>
            </a:r>
            <a:r>
              <a:rPr lang="zh-CN" altLang="en-US"/>
              <a:t>×</a:t>
            </a:r>
            <a:r>
              <a:rPr lang="en-US" altLang="zh-CN"/>
              <a:t>10</a:t>
            </a:r>
            <a:r>
              <a:rPr lang="zh-CN" altLang="en-US"/>
              <a:t>×</a:t>
            </a:r>
            <a:r>
              <a:rPr lang="en-US" altLang="zh-CN"/>
              <a:t>8</a:t>
            </a:r>
            <a:r>
              <a:rPr lang="zh-CN" altLang="en-US"/>
              <a:t>（或者分</a:t>
            </a:r>
            <a:r>
              <a:rPr lang="en-US" altLang="zh-CN"/>
              <a:t>2</a:t>
            </a:r>
            <a:r>
              <a:rPr lang="zh-CN" altLang="en-US"/>
              <a:t>周期读，一次</a:t>
            </a:r>
            <a:r>
              <a:rPr lang="en-US" altLang="zh-CN"/>
              <a:t>560bits</a:t>
            </a:r>
            <a:r>
              <a:rPr lang="zh-CN" altLang="en-US"/>
              <a:t>），后面八次读进来后两行再换序（整体往上挪</a:t>
            </a:r>
            <a:r>
              <a:rPr lang="en-US" altLang="zh-CN"/>
              <a:t>2</a:t>
            </a:r>
            <a:r>
              <a:rPr lang="zh-CN" altLang="en-US"/>
              <a:t>），这样读的数少了，总线降下来了。（需要换序，不然太乱了，但是换序需要一个周期？每张图多一个周期？考虑并在流水里的话</a:t>
            </a:r>
            <a:r>
              <a:rPr lang="zh-CN" altLang="en-US">
                <a:sym typeface="+mn-ea"/>
              </a:rPr>
              <a:t>这两个周期可以省去</a:t>
            </a:r>
            <a:r>
              <a:rPr lang="zh-CN" altLang="en-US"/>
              <a:t>（比如第一张图的后两个周期开始读后两行</a:t>
            </a:r>
            <a:r>
              <a:rPr lang="en-US" altLang="zh-CN"/>
              <a:t>+</a:t>
            </a:r>
            <a:r>
              <a:rPr lang="zh-CN" altLang="en-US"/>
              <a:t>换序））</a:t>
            </a:r>
            <a:endParaRPr lang="zh-CN" altLang="en-US"/>
          </a:p>
          <a:p>
            <a:r>
              <a:rPr lang="zh-CN" altLang="en-US"/>
              <a:t>原方案为</a:t>
            </a:r>
            <a:r>
              <a:rPr lang="en-US" altLang="zh-CN"/>
              <a:t>9</a:t>
            </a:r>
            <a:r>
              <a:rPr lang="zh-CN" altLang="en-US"/>
              <a:t>个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1×14×10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串行，改位流水，如右图。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是否考虑品乓缓存</a:t>
            </a:r>
            <a:r>
              <a:rPr lang="en-US" altLang="zh-CN"/>
              <a:t>/</a:t>
            </a:r>
            <a:r>
              <a:rPr lang="zh-CN" altLang="en-US"/>
              <a:t>第二张图在第二个周期开始</a:t>
            </a:r>
            <a:r>
              <a:rPr lang="zh-CN" altLang="en-US"/>
              <a:t>读</a:t>
            </a:r>
            <a:endParaRPr lang="zh-CN" altLang="en-US"/>
          </a:p>
          <a:p>
            <a:endParaRPr lang="en-US" altLang="zh-CN"/>
          </a:p>
        </p:txBody>
      </p:sp>
      <p:sp>
        <p:nvSpPr>
          <p:cNvPr id="36" name="立方体 35"/>
          <p:cNvSpPr/>
          <p:nvPr/>
        </p:nvSpPr>
        <p:spPr>
          <a:xfrm>
            <a:off x="9324340" y="1659255"/>
            <a:ext cx="1312545" cy="4109720"/>
          </a:xfrm>
          <a:prstGeom prst="cub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9662795" y="5768975"/>
            <a:ext cx="857250" cy="4254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38" name="文本框 37"/>
          <p:cNvSpPr txBox="1"/>
          <p:nvPr/>
        </p:nvSpPr>
        <p:spPr>
          <a:xfrm>
            <a:off x="8977630" y="3477895"/>
            <a:ext cx="857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9</a:t>
            </a:r>
            <a:endParaRPr lang="en-US" altLang="zh-CN"/>
          </a:p>
        </p:txBody>
      </p:sp>
      <p:sp>
        <p:nvSpPr>
          <p:cNvPr id="39" name="文本框 38"/>
          <p:cNvSpPr txBox="1"/>
          <p:nvPr/>
        </p:nvSpPr>
        <p:spPr>
          <a:xfrm>
            <a:off x="9110345" y="1535430"/>
            <a:ext cx="9791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32</a:t>
            </a:r>
            <a:endParaRPr lang="en-US" altLang="zh-CN"/>
          </a:p>
          <a:p>
            <a:endParaRPr lang="en-US" altLang="zh-CN"/>
          </a:p>
        </p:txBody>
      </p:sp>
      <p:sp>
        <p:nvSpPr>
          <p:cNvPr id="40" name="立方体 39"/>
          <p:cNvSpPr/>
          <p:nvPr/>
        </p:nvSpPr>
        <p:spPr>
          <a:xfrm>
            <a:off x="9324340" y="1888490"/>
            <a:ext cx="1090295" cy="407035"/>
          </a:xfrm>
          <a:prstGeom prst="cub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/>
        </p:nvSpPr>
        <p:spPr>
          <a:xfrm>
            <a:off x="9627870" y="2221230"/>
            <a:ext cx="857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42" name="文本框 41"/>
          <p:cNvSpPr txBox="1"/>
          <p:nvPr/>
        </p:nvSpPr>
        <p:spPr>
          <a:xfrm>
            <a:off x="9022715" y="1974850"/>
            <a:ext cx="857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43" name="文本框 42"/>
          <p:cNvSpPr txBox="1"/>
          <p:nvPr/>
        </p:nvSpPr>
        <p:spPr>
          <a:xfrm>
            <a:off x="10252075" y="2164080"/>
            <a:ext cx="857250" cy="4254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44" name="文本框 43"/>
          <p:cNvSpPr txBox="1"/>
          <p:nvPr/>
        </p:nvSpPr>
        <p:spPr>
          <a:xfrm>
            <a:off x="8977630" y="607060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ym typeface="+mn-ea"/>
              </a:rPr>
              <a:t>32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9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➗</a:t>
            </a:r>
            <a:r>
              <a:rPr lang="en-US" altLang="zh-CN">
                <a:sym typeface="+mn-ea"/>
              </a:rPr>
              <a:t> 4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1=72</a:t>
            </a:r>
            <a:r>
              <a:rPr lang="zh-CN" altLang="en-US">
                <a:sym typeface="+mn-ea"/>
              </a:rPr>
              <a:t>周期</a:t>
            </a:r>
            <a:endParaRPr lang="zh-CN" altLang="en-US"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92735" y="320040"/>
            <a:ext cx="4219575" cy="684530"/>
          </a:xfrm>
          <a:prstGeom prst="rect">
            <a:avLst/>
          </a:prstGeom>
        </p:spPr>
        <p:txBody>
          <a:bodyPr vert="horz" lIns="90000" tIns="46800" rIns="90000" bIns="46800" rtlCol="0" anchor="ctr" anchorCtr="0"/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>
                <a:solidFill>
                  <a:schemeClr val="accent5">
                    <a:lumMod val="60000"/>
                    <a:lumOff val="40000"/>
                  </a:schemeClr>
                </a:solidFill>
              </a:rPr>
              <a:t>Conv1 77</a:t>
            </a:r>
            <a:r>
              <a:rPr lang="zh-CN" altLang="en-US" sz="2800">
                <a:solidFill>
                  <a:schemeClr val="accent5">
                    <a:lumMod val="60000"/>
                    <a:lumOff val="40000"/>
                  </a:schemeClr>
                </a:solidFill>
              </a:rPr>
              <a:t>个乘累加的三级流水</a:t>
            </a:r>
            <a:r>
              <a:rPr lang="zh-CN" altLang="en-US" sz="2800">
                <a:solidFill>
                  <a:schemeClr val="accent5">
                    <a:lumMod val="60000"/>
                    <a:lumOff val="40000"/>
                  </a:schemeClr>
                </a:solidFill>
              </a:rPr>
              <a:t>计算量不</a:t>
            </a:r>
            <a:r>
              <a:rPr lang="zh-CN" altLang="en-US" sz="2800">
                <a:solidFill>
                  <a:schemeClr val="accent5">
                    <a:lumMod val="60000"/>
                    <a:lumOff val="40000"/>
                  </a:schemeClr>
                </a:solidFill>
              </a:rPr>
              <a:t>匹配</a:t>
            </a:r>
            <a:endParaRPr lang="zh-CN" altLang="en-US" sz="280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205105" y="2189480"/>
            <a:ext cx="3902710" cy="51631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/>
              <a:t>问题：</a:t>
            </a:r>
            <a:endParaRPr lang="zh-CN" altLang="en-US" sz="2000"/>
          </a:p>
          <a:p>
            <a:r>
              <a:rPr lang="zh-CN" altLang="en-US" sz="2000"/>
              <a:t>第一级</a:t>
            </a:r>
            <a:r>
              <a:rPr lang="en-US" altLang="zh-CN" sz="2000"/>
              <a:t> 7</a:t>
            </a:r>
            <a:r>
              <a:rPr lang="zh-CN" altLang="en-US" sz="2000"/>
              <a:t>个</a:t>
            </a:r>
            <a:r>
              <a:rPr lang="en-US" altLang="zh-CN" sz="2000"/>
              <a:t>8bit</a:t>
            </a:r>
            <a:r>
              <a:rPr lang="zh-CN" altLang="en-US" sz="2000"/>
              <a:t>累加</a:t>
            </a:r>
            <a:endParaRPr lang="zh-CN" altLang="en-US" sz="2000"/>
          </a:p>
          <a:p>
            <a:r>
              <a:rPr lang="zh-CN" altLang="en-US" sz="2000"/>
              <a:t>第二级</a:t>
            </a:r>
            <a:r>
              <a:rPr lang="en-US" altLang="zh-CN" sz="2000"/>
              <a:t> </a:t>
            </a:r>
            <a:r>
              <a:rPr lang="zh-CN" altLang="en-US" sz="2000"/>
              <a:t>六组</a:t>
            </a:r>
            <a:r>
              <a:rPr lang="en-US" altLang="zh-CN" sz="2000"/>
              <a:t>2</a:t>
            </a:r>
            <a:r>
              <a:rPr lang="zh-CN" altLang="en-US" sz="2000"/>
              <a:t>个</a:t>
            </a:r>
            <a:r>
              <a:rPr lang="en-US" altLang="zh-CN" sz="2000"/>
              <a:t>32bit</a:t>
            </a:r>
            <a:r>
              <a:rPr lang="zh-CN" altLang="en-US" sz="2000"/>
              <a:t>加</a:t>
            </a:r>
            <a:endParaRPr lang="zh-CN" altLang="en-US" sz="2000"/>
          </a:p>
          <a:p>
            <a:r>
              <a:rPr lang="zh-CN" altLang="en-US" sz="2000"/>
              <a:t>第三级</a:t>
            </a:r>
            <a:r>
              <a:rPr lang="en-US" altLang="zh-CN" sz="2000"/>
              <a:t> </a:t>
            </a:r>
            <a:r>
              <a:rPr lang="zh-CN" altLang="en-US" sz="2000"/>
              <a:t>一组</a:t>
            </a:r>
            <a:r>
              <a:rPr lang="en-US" altLang="zh-CN" sz="2000"/>
              <a:t>6</a:t>
            </a:r>
            <a:r>
              <a:rPr lang="zh-CN" altLang="en-US" sz="2000"/>
              <a:t>个</a:t>
            </a:r>
            <a:r>
              <a:rPr lang="en-US" altLang="zh-CN" sz="2000"/>
              <a:t>32bit</a:t>
            </a:r>
            <a:r>
              <a:rPr lang="zh-CN" altLang="en-US" sz="2000"/>
              <a:t>加</a:t>
            </a:r>
            <a:endParaRPr lang="zh-CN" altLang="en-US" sz="2000"/>
          </a:p>
          <a:p>
            <a:r>
              <a:rPr lang="zh-CN" altLang="en-US" sz="2000"/>
              <a:t>解决：</a:t>
            </a:r>
            <a:endParaRPr lang="zh-CN" altLang="en-US" sz="2000"/>
          </a:p>
          <a:p>
            <a:r>
              <a:rPr lang="zh-CN" altLang="en-US" sz="2000"/>
              <a:t>两层并行</a:t>
            </a:r>
            <a:r>
              <a:rPr lang="en-US" altLang="zh-CN" sz="2000"/>
              <a:t>CSA+</a:t>
            </a:r>
            <a:r>
              <a:rPr lang="zh-CN" altLang="en-US" sz="2000"/>
              <a:t>一次</a:t>
            </a:r>
            <a:r>
              <a:rPr lang="en-US" altLang="zh-CN" sz="2000"/>
              <a:t>CPA</a:t>
            </a:r>
            <a:endParaRPr lang="en-US" altLang="zh-CN" sz="2000"/>
          </a:p>
          <a:p>
            <a:r>
              <a:rPr lang="en-US" altLang="zh-CN" sz="2000"/>
              <a:t>CSA</a:t>
            </a:r>
            <a:r>
              <a:rPr lang="zh-CN" altLang="en-US" sz="2000"/>
              <a:t>让传播进位只发生</a:t>
            </a:r>
            <a:r>
              <a:rPr lang="zh-CN" altLang="en-US" sz="2000"/>
              <a:t>一次</a:t>
            </a:r>
            <a:endParaRPr lang="zh-CN" altLang="en-US" sz="2000"/>
          </a:p>
          <a:p>
            <a:endParaRPr lang="zh-CN" altLang="en-US" sz="2000"/>
          </a:p>
          <a:p>
            <a:r>
              <a:rPr lang="en-US" altLang="zh-CN" sz="2000"/>
              <a:t>sign-extend</a:t>
            </a:r>
            <a:r>
              <a:rPr lang="zh-CN" altLang="en-US" sz="2000"/>
              <a:t>的意义（需要</a:t>
            </a:r>
            <a:r>
              <a:rPr lang="zh-CN" altLang="en-US" sz="2000"/>
              <a:t>吗）</a:t>
            </a:r>
            <a:endParaRPr lang="zh-CN" altLang="en-US" sz="2000"/>
          </a:p>
          <a:p>
            <a:r>
              <a:rPr lang="zh-CN" altLang="en-US" sz="2000"/>
              <a:t>保证</a:t>
            </a:r>
            <a:r>
              <a:rPr lang="zh-CN" altLang="en-US" sz="2000"/>
              <a:t>符号位</a:t>
            </a:r>
            <a:endParaRPr lang="zh-CN" altLang="en-US" sz="2000"/>
          </a:p>
          <a:p>
            <a:r>
              <a:rPr lang="zh-CN" altLang="en-US" sz="2000"/>
              <a:t>不会</a:t>
            </a:r>
            <a:r>
              <a:rPr lang="zh-CN" altLang="en-US" sz="2000"/>
              <a:t>溢出</a:t>
            </a:r>
            <a:endParaRPr lang="zh-CN" altLang="en-US" sz="2000"/>
          </a:p>
          <a:p>
            <a:endParaRPr lang="zh-CN" altLang="en-US" sz="2000"/>
          </a:p>
          <a:p>
            <a:endParaRPr lang="zh-CN" altLang="en-US" sz="2000"/>
          </a:p>
        </p:txBody>
      </p:sp>
      <p:cxnSp>
        <p:nvCxnSpPr>
          <p:cNvPr id="3" name="直接连接符 2"/>
          <p:cNvCxnSpPr/>
          <p:nvPr/>
        </p:nvCxnSpPr>
        <p:spPr>
          <a:xfrm>
            <a:off x="4492950" y="191617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4492950" y="1932841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5321435" y="191617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5321814" y="2503781"/>
            <a:ext cx="828040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6150299" y="191617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6150299" y="1932841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6978784" y="191617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6974402" y="2506722"/>
            <a:ext cx="828040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7802887" y="1919113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7802887" y="1935782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8631372" y="191911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8636514" y="2500840"/>
            <a:ext cx="828040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矩形 62"/>
          <p:cNvSpPr/>
          <p:nvPr/>
        </p:nvSpPr>
        <p:spPr>
          <a:xfrm>
            <a:off x="4565386" y="1803688"/>
            <a:ext cx="1507331" cy="723628"/>
          </a:xfrm>
          <a:prstGeom prst="rect">
            <a:avLst/>
          </a:prstGeom>
          <a:solidFill>
            <a:srgbClr val="FF0000">
              <a:alpha val="27000"/>
            </a:srgbClr>
          </a:solidFill>
          <a:ln w="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文本框 63"/>
          <p:cNvSpPr txBox="1"/>
          <p:nvPr/>
        </p:nvSpPr>
        <p:spPr>
          <a:xfrm>
            <a:off x="6188622" y="802283"/>
            <a:ext cx="1756716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Stage 2: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分组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8+8+7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（含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bias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）进行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CSA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求和</a:t>
            </a:r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7912022" y="801849"/>
            <a:ext cx="1756716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Stage 3: 6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个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32bit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数求和，再进行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CPA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求和</a:t>
            </a:r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6239274" y="1777210"/>
            <a:ext cx="1507331" cy="723628"/>
          </a:xfrm>
          <a:prstGeom prst="rect">
            <a:avLst/>
          </a:prstGeom>
          <a:solidFill>
            <a:srgbClr val="FFC000">
              <a:alpha val="27000"/>
            </a:srgbClr>
          </a:solidFill>
          <a:ln w="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7881277" y="1777210"/>
            <a:ext cx="1507331" cy="723628"/>
          </a:xfrm>
          <a:prstGeom prst="rect">
            <a:avLst/>
          </a:prstGeom>
          <a:solidFill>
            <a:srgbClr val="FFFF00">
              <a:alpha val="27000"/>
            </a:srgbClr>
          </a:solidFill>
          <a:ln w="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4431906" y="-37588"/>
            <a:ext cx="1756716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Stage 1: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将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7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个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 8bit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乘法结果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sign‑extend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到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 32bit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CSA Tree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做压缩，把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 7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个数压到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个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“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部分和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”sum&amp;carry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32" name="表格 31"/>
          <p:cNvGraphicFramePr/>
          <p:nvPr/>
        </p:nvGraphicFramePr>
        <p:xfrm>
          <a:off x="4331335" y="2554605"/>
          <a:ext cx="2809240" cy="40582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320"/>
                <a:gridCol w="401320"/>
                <a:gridCol w="401320"/>
                <a:gridCol w="401320"/>
                <a:gridCol w="401320"/>
                <a:gridCol w="401320"/>
                <a:gridCol w="401320"/>
              </a:tblGrid>
              <a:tr h="368935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68935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68935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368935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368935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68935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68935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68935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68935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68935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68935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4" name="右箭头 33"/>
          <p:cNvSpPr/>
          <p:nvPr/>
        </p:nvSpPr>
        <p:spPr>
          <a:xfrm>
            <a:off x="7228840" y="2700655"/>
            <a:ext cx="231140" cy="7620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7506970" y="2569845"/>
            <a:ext cx="113919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sum&amp;carry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45" name="右箭头 44"/>
          <p:cNvSpPr/>
          <p:nvPr/>
        </p:nvSpPr>
        <p:spPr>
          <a:xfrm>
            <a:off x="7235825" y="3037840"/>
            <a:ext cx="231140" cy="7620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6" name="文本框 45"/>
          <p:cNvSpPr txBox="1"/>
          <p:nvPr/>
        </p:nvSpPr>
        <p:spPr>
          <a:xfrm>
            <a:off x="7513955" y="2907030"/>
            <a:ext cx="113919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sum&amp;carry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47" name="右箭头 46"/>
          <p:cNvSpPr/>
          <p:nvPr/>
        </p:nvSpPr>
        <p:spPr>
          <a:xfrm>
            <a:off x="7228840" y="3462655"/>
            <a:ext cx="231140" cy="7620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文本框 47"/>
          <p:cNvSpPr txBox="1"/>
          <p:nvPr/>
        </p:nvSpPr>
        <p:spPr>
          <a:xfrm>
            <a:off x="7506970" y="3331845"/>
            <a:ext cx="113919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sum&amp;carry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49" name="右箭头 48"/>
          <p:cNvSpPr/>
          <p:nvPr/>
        </p:nvSpPr>
        <p:spPr>
          <a:xfrm>
            <a:off x="7235825" y="3799840"/>
            <a:ext cx="231140" cy="7620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0" name="文本框 49"/>
          <p:cNvSpPr txBox="1"/>
          <p:nvPr/>
        </p:nvSpPr>
        <p:spPr>
          <a:xfrm>
            <a:off x="7513955" y="3669030"/>
            <a:ext cx="113919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sum&amp;carry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51" name="右箭头 50"/>
          <p:cNvSpPr/>
          <p:nvPr/>
        </p:nvSpPr>
        <p:spPr>
          <a:xfrm>
            <a:off x="7228840" y="4162425"/>
            <a:ext cx="231140" cy="7620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" name="文本框 51"/>
          <p:cNvSpPr txBox="1"/>
          <p:nvPr/>
        </p:nvSpPr>
        <p:spPr>
          <a:xfrm>
            <a:off x="7506970" y="4031615"/>
            <a:ext cx="113919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sum&amp;carry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53" name="右箭头 52"/>
          <p:cNvSpPr/>
          <p:nvPr/>
        </p:nvSpPr>
        <p:spPr>
          <a:xfrm>
            <a:off x="7235825" y="4499610"/>
            <a:ext cx="231140" cy="7620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文本框 53"/>
          <p:cNvSpPr txBox="1"/>
          <p:nvPr/>
        </p:nvSpPr>
        <p:spPr>
          <a:xfrm>
            <a:off x="7513955" y="4368800"/>
            <a:ext cx="113919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sum&amp;carry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55" name="右箭头 54"/>
          <p:cNvSpPr/>
          <p:nvPr/>
        </p:nvSpPr>
        <p:spPr>
          <a:xfrm>
            <a:off x="7228840" y="4924425"/>
            <a:ext cx="231140" cy="7620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6" name="文本框 55"/>
          <p:cNvSpPr txBox="1"/>
          <p:nvPr/>
        </p:nvSpPr>
        <p:spPr>
          <a:xfrm>
            <a:off x="7506970" y="4793615"/>
            <a:ext cx="113919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sum&amp;carry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57" name="右箭头 56"/>
          <p:cNvSpPr/>
          <p:nvPr/>
        </p:nvSpPr>
        <p:spPr>
          <a:xfrm>
            <a:off x="7235825" y="5261610"/>
            <a:ext cx="231140" cy="7620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8" name="文本框 57"/>
          <p:cNvSpPr txBox="1"/>
          <p:nvPr/>
        </p:nvSpPr>
        <p:spPr>
          <a:xfrm>
            <a:off x="7513955" y="5130800"/>
            <a:ext cx="113919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sum&amp;carry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59" name="右箭头 58"/>
          <p:cNvSpPr/>
          <p:nvPr/>
        </p:nvSpPr>
        <p:spPr>
          <a:xfrm>
            <a:off x="7235825" y="5598795"/>
            <a:ext cx="231140" cy="7620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0" name="文本框 59"/>
          <p:cNvSpPr txBox="1"/>
          <p:nvPr/>
        </p:nvSpPr>
        <p:spPr>
          <a:xfrm>
            <a:off x="7513955" y="5467985"/>
            <a:ext cx="113919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sum&amp;carry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61" name="右箭头 60"/>
          <p:cNvSpPr/>
          <p:nvPr/>
        </p:nvSpPr>
        <p:spPr>
          <a:xfrm>
            <a:off x="7242810" y="5935980"/>
            <a:ext cx="231140" cy="7620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2" name="文本框 61"/>
          <p:cNvSpPr txBox="1"/>
          <p:nvPr/>
        </p:nvSpPr>
        <p:spPr>
          <a:xfrm>
            <a:off x="7520940" y="5805170"/>
            <a:ext cx="113919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sum&amp;carry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72" name="右箭头 71"/>
          <p:cNvSpPr/>
          <p:nvPr/>
        </p:nvSpPr>
        <p:spPr>
          <a:xfrm>
            <a:off x="7235825" y="6360795"/>
            <a:ext cx="231140" cy="7620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4" name="文本框 73"/>
          <p:cNvSpPr txBox="1"/>
          <p:nvPr/>
        </p:nvSpPr>
        <p:spPr>
          <a:xfrm>
            <a:off x="7513955" y="6229985"/>
            <a:ext cx="113919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sum&amp;carry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7758430" y="6567170"/>
            <a:ext cx="113919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bias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77" name="右大括号 76"/>
          <p:cNvSpPr/>
          <p:nvPr/>
        </p:nvSpPr>
        <p:spPr>
          <a:xfrm>
            <a:off x="8586470" y="2720975"/>
            <a:ext cx="209550" cy="119126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8" name="右大括号 77"/>
          <p:cNvSpPr/>
          <p:nvPr/>
        </p:nvSpPr>
        <p:spPr>
          <a:xfrm>
            <a:off x="8586470" y="4162425"/>
            <a:ext cx="209550" cy="119126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9" name="右大括号 78"/>
          <p:cNvSpPr/>
          <p:nvPr/>
        </p:nvSpPr>
        <p:spPr>
          <a:xfrm>
            <a:off x="8586470" y="5674360"/>
            <a:ext cx="209550" cy="119126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0" name="文本框 79"/>
          <p:cNvSpPr txBox="1"/>
          <p:nvPr/>
        </p:nvSpPr>
        <p:spPr>
          <a:xfrm>
            <a:off x="8850630" y="3113405"/>
            <a:ext cx="113919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sum&amp;carry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8850630" y="4575175"/>
            <a:ext cx="113919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sum&amp;carry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8850630" y="6099175"/>
            <a:ext cx="113919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sum&amp;carry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83" name="右大括号 82"/>
          <p:cNvSpPr/>
          <p:nvPr/>
        </p:nvSpPr>
        <p:spPr>
          <a:xfrm>
            <a:off x="9989820" y="3244215"/>
            <a:ext cx="209550" cy="305308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4" name="文本框 83"/>
          <p:cNvSpPr txBox="1"/>
          <p:nvPr/>
        </p:nvSpPr>
        <p:spPr>
          <a:xfrm>
            <a:off x="10415270" y="4839335"/>
            <a:ext cx="205486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sum&amp;carry-&gt;CPA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92735" y="320040"/>
            <a:ext cx="4219575" cy="684530"/>
          </a:xfrm>
          <a:prstGeom prst="rect">
            <a:avLst/>
          </a:prstGeom>
        </p:spPr>
        <p:txBody>
          <a:bodyPr vert="horz" lIns="90000" tIns="46800" rIns="90000" bIns="46800" rtlCol="0" anchor="ctr" anchorCtr="0"/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>
                <a:solidFill>
                  <a:schemeClr val="accent5">
                    <a:lumMod val="60000"/>
                    <a:lumOff val="40000"/>
                  </a:schemeClr>
                </a:solidFill>
              </a:rPr>
              <a:t>Conv1</a:t>
            </a:r>
            <a:r>
              <a:rPr lang="zh-CN" altLang="en-US" sz="2800">
                <a:solidFill>
                  <a:schemeClr val="accent5">
                    <a:lumMod val="60000"/>
                    <a:lumOff val="40000"/>
                  </a:schemeClr>
                </a:solidFill>
              </a:rPr>
              <a:t>问题</a:t>
            </a:r>
            <a:r>
              <a:rPr lang="en-US" altLang="zh-CN" sz="2800">
                <a:solidFill>
                  <a:schemeClr val="accent5">
                    <a:lumMod val="60000"/>
                    <a:lumOff val="40000"/>
                  </a:schemeClr>
                </a:solidFill>
              </a:rPr>
              <a:t>1</a:t>
            </a:r>
            <a:endParaRPr lang="en-US" altLang="zh-CN" sz="280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579755" y="874395"/>
            <a:ext cx="2968625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问题：</a:t>
            </a:r>
            <a:endParaRPr lang="zh-CN" altLang="en-US"/>
          </a:p>
          <a:p>
            <a:r>
              <a:rPr lang="zh-CN" altLang="en-US"/>
              <a:t>构架先将一张特征图</a:t>
            </a:r>
            <a:r>
              <a:rPr lang="en-US" altLang="zh-CN"/>
              <a:t>30</a:t>
            </a:r>
            <a:r>
              <a:rPr lang="en-US" altLang="en-US"/>
              <a:t>×</a:t>
            </a:r>
            <a:r>
              <a:rPr lang="en-US" altLang="zh-CN"/>
              <a:t>10</a:t>
            </a:r>
            <a:r>
              <a:rPr lang="en-US" altLang="en-US"/>
              <a:t>×</a:t>
            </a:r>
            <a:r>
              <a:rPr lang="en-US" altLang="zh-CN"/>
              <a:t>8</a:t>
            </a:r>
            <a:r>
              <a:rPr lang="zh-CN" altLang="en-US"/>
              <a:t>的数据存入寄存器，再由</a:t>
            </a:r>
            <a:r>
              <a:rPr lang="en-US" altLang="zh-CN"/>
              <a:t>pos</a:t>
            </a:r>
            <a:r>
              <a:rPr lang="zh-CN" altLang="en-US"/>
              <a:t>指路截取</a:t>
            </a:r>
            <a:r>
              <a:rPr lang="en-US" altLang="zh-CN"/>
              <a:t>14</a:t>
            </a:r>
            <a:r>
              <a:rPr lang="en-US" altLang="en-US"/>
              <a:t>×</a:t>
            </a:r>
            <a:r>
              <a:rPr lang="en-US" altLang="zh-CN"/>
              <a:t>10</a:t>
            </a:r>
            <a:r>
              <a:rPr lang="en-US" altLang="en-US"/>
              <a:t>×</a:t>
            </a:r>
            <a:r>
              <a:rPr lang="en-US" altLang="zh-CN"/>
              <a:t>8</a:t>
            </a:r>
            <a:r>
              <a:rPr lang="zh-CN" altLang="en-US"/>
              <a:t>的数据以及卷积核</a:t>
            </a:r>
            <a:r>
              <a:rPr lang="en-US" altLang="zh-CN"/>
              <a:t>11</a:t>
            </a:r>
            <a:r>
              <a:rPr lang="en-US" altLang="en-US"/>
              <a:t>×</a:t>
            </a:r>
            <a:r>
              <a:rPr lang="en-US" altLang="zh-CN"/>
              <a:t>7</a:t>
            </a:r>
            <a:r>
              <a:rPr lang="en-US" altLang="en-US"/>
              <a:t>×</a:t>
            </a:r>
            <a:r>
              <a:rPr lang="en-US" altLang="zh-CN"/>
              <a:t>8</a:t>
            </a:r>
            <a:r>
              <a:rPr lang="zh-CN" altLang="en-US"/>
              <a:t>的数据送入</a:t>
            </a:r>
            <a:r>
              <a:rPr lang="en-US" altLang="zh-CN"/>
              <a:t>64</a:t>
            </a:r>
            <a:r>
              <a:rPr lang="zh-CN" altLang="en-US"/>
              <a:t>（</a:t>
            </a:r>
            <a:r>
              <a:rPr lang="en-US" altLang="zh-CN"/>
              <a:t>ch(4) x oy(4) x ox(4)</a:t>
            </a:r>
            <a:r>
              <a:rPr lang="zh-CN" altLang="en-US"/>
              <a:t>）个计算单元中对应的计算单元，这个过程涉及到大量的布局布线，会占用大量的面积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加一级流水寄存器，通过分段</a:t>
            </a:r>
            <a:r>
              <a:rPr lang="en-US" altLang="zh-CN"/>
              <a:t>——</a:t>
            </a:r>
            <a:r>
              <a:rPr lang="zh-CN" altLang="en-US"/>
              <a:t>总线，寄存器，</a:t>
            </a:r>
            <a:r>
              <a:rPr lang="en-US" altLang="zh-CN"/>
              <a:t>11</a:t>
            </a:r>
            <a:r>
              <a:rPr lang="zh-CN" altLang="en-US"/>
              <a:t>个乘加，短线简单长线</a:t>
            </a:r>
            <a:r>
              <a:rPr lang="zh-CN" altLang="en-US"/>
              <a:t>难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92735" y="320040"/>
            <a:ext cx="4219575" cy="684530"/>
          </a:xfrm>
          <a:prstGeom prst="rect">
            <a:avLst/>
          </a:prstGeom>
        </p:spPr>
        <p:txBody>
          <a:bodyPr vert="horz" lIns="90000" tIns="46800" rIns="90000" bIns="46800" rtlCol="0" anchor="ctr" anchorCtr="0"/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>
                <a:solidFill>
                  <a:schemeClr val="accent5">
                    <a:lumMod val="60000"/>
                    <a:lumOff val="40000"/>
                  </a:schemeClr>
                </a:solidFill>
              </a:rPr>
              <a:t>Conv1</a:t>
            </a:r>
            <a:r>
              <a:rPr lang="zh-CN" altLang="en-US" sz="2800">
                <a:solidFill>
                  <a:schemeClr val="accent5">
                    <a:lumMod val="60000"/>
                    <a:lumOff val="40000"/>
                  </a:schemeClr>
                </a:solidFill>
              </a:rPr>
              <a:t>问题</a:t>
            </a:r>
            <a:r>
              <a:rPr lang="en-US" altLang="zh-CN" sz="2800">
                <a:solidFill>
                  <a:schemeClr val="accent5">
                    <a:lumMod val="60000"/>
                    <a:lumOff val="40000"/>
                  </a:schemeClr>
                </a:solidFill>
              </a:rPr>
              <a:t>2</a:t>
            </a:r>
            <a:endParaRPr lang="en-US" altLang="zh-CN" sz="280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579755" y="874395"/>
            <a:ext cx="2968625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问题：</a:t>
            </a:r>
            <a:endParaRPr lang="zh-CN" altLang="en-US"/>
          </a:p>
          <a:p>
            <a:r>
              <a:rPr lang="zh-CN" altLang="en-US"/>
              <a:t>输入</a:t>
            </a:r>
            <a:r>
              <a:rPr lang="en-US" altLang="zh-CN"/>
              <a:t>30</a:t>
            </a:r>
            <a:r>
              <a:rPr lang="zh-CN" altLang="en-US"/>
              <a:t>×</a:t>
            </a:r>
            <a:r>
              <a:rPr lang="en-US" altLang="zh-CN"/>
              <a:t>10</a:t>
            </a:r>
            <a:r>
              <a:rPr lang="zh-CN" altLang="en-US"/>
              <a:t>×</a:t>
            </a:r>
            <a:r>
              <a:rPr lang="en-US" altLang="zh-CN"/>
              <a:t>8bit</a:t>
            </a:r>
            <a:r>
              <a:rPr lang="zh-CN" altLang="en-US"/>
              <a:t>太大了，目前：两份整帧双缓冲</a:t>
            </a:r>
            <a:r>
              <a:rPr lang="en-US" altLang="zh-CN"/>
              <a:t> cache frame_cache0 </a:t>
            </a:r>
            <a:r>
              <a:rPr lang="zh-CN" altLang="en-US"/>
              <a:t>和</a:t>
            </a:r>
            <a:r>
              <a:rPr lang="en-US" altLang="zh-CN"/>
              <a:t> frame_cache1</a:t>
            </a:r>
            <a:r>
              <a:rPr lang="zh-CN" altLang="en-US"/>
              <a:t>（一行</a:t>
            </a:r>
            <a:r>
              <a:rPr lang="en-US" altLang="zh-CN"/>
              <a:t>80bit</a:t>
            </a:r>
            <a:r>
              <a:rPr lang="zh-CN" altLang="en-US"/>
              <a:t>按照乒乓缓存</a:t>
            </a:r>
            <a:r>
              <a:rPr lang="zh-CN" altLang="en-US"/>
              <a:t>输入），它们分别对应系统语义上的：</a:t>
            </a:r>
            <a:r>
              <a:rPr lang="en-US" altLang="zh-CN"/>
              <a:t>ping</a:t>
            </a:r>
            <a:r>
              <a:rPr lang="zh-CN" altLang="en-US"/>
              <a:t>和</a:t>
            </a:r>
            <a:r>
              <a:rPr lang="en-US" altLang="zh-CN"/>
              <a:t>pong</a:t>
            </a:r>
            <a:endParaRPr lang="en-US" altLang="zh-CN"/>
          </a:p>
          <a:p>
            <a:r>
              <a:rPr lang="zh-CN" altLang="en-US"/>
              <a:t>解决：</a:t>
            </a:r>
            <a:endParaRPr lang="zh-CN" altLang="en-US"/>
          </a:p>
          <a:p>
            <a:r>
              <a:rPr lang="zh-CN" altLang="en-US"/>
              <a:t>再慢可以再加流水</a:t>
            </a:r>
            <a:r>
              <a:rPr lang="zh-CN" altLang="en-US"/>
              <a:t>输入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待做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写</a:t>
            </a:r>
            <a:r>
              <a:rPr lang="en-US" altLang="zh-CN"/>
              <a:t>CNN_chip.v</a:t>
            </a:r>
            <a:r>
              <a:rPr lang="zh-CN" altLang="en-US"/>
              <a:t>例化接口（</a:t>
            </a:r>
            <a:r>
              <a:rPr lang="en-US" altLang="zh-CN"/>
              <a:t>pad</a:t>
            </a:r>
            <a:r>
              <a:rPr lang="zh-CN" altLang="en-US"/>
              <a:t>）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" name="圆角矩形 32"/>
          <p:cNvSpPr/>
          <p:nvPr/>
        </p:nvSpPr>
        <p:spPr>
          <a:xfrm>
            <a:off x="4251325" y="4404995"/>
            <a:ext cx="5342890" cy="1207135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380365" y="320040"/>
            <a:ext cx="5346065" cy="684530"/>
          </a:xfrm>
          <a:prstGeom prst="rect">
            <a:avLst/>
          </a:prstGeom>
        </p:spPr>
        <p:txBody>
          <a:bodyPr vert="horz" lIns="90000" tIns="46800" rIns="90000" bIns="46800" rtlCol="0" anchor="ctr" anchorCtr="0"/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>
                <a:solidFill>
                  <a:schemeClr val="accent5">
                    <a:lumMod val="60000"/>
                    <a:lumOff val="40000"/>
                  </a:schemeClr>
                </a:solidFill>
              </a:rPr>
              <a:t>PWconv_conv_core</a:t>
            </a:r>
            <a:r>
              <a:rPr lang="zh-CN" altLang="en-US" sz="2800">
                <a:solidFill>
                  <a:schemeClr val="accent5">
                    <a:lumMod val="60000"/>
                    <a:lumOff val="40000"/>
                  </a:schemeClr>
                </a:solidFill>
              </a:rPr>
              <a:t>分析</a:t>
            </a:r>
            <a:endParaRPr lang="zh-CN" altLang="en-US" sz="280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3" name="直接连接符 2"/>
          <p:cNvCxnSpPr/>
          <p:nvPr>
            <p:custDataLst>
              <p:tags r:id="rId2"/>
            </p:custDataLst>
          </p:nvPr>
        </p:nvCxnSpPr>
        <p:spPr>
          <a:xfrm>
            <a:off x="600557" y="1949379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>
            <p:custDataLst>
              <p:tags r:id="rId3"/>
            </p:custDataLst>
          </p:nvPr>
        </p:nvCxnSpPr>
        <p:spPr>
          <a:xfrm>
            <a:off x="1429042" y="136177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>
            <p:custDataLst>
              <p:tags r:id="rId4"/>
            </p:custDataLst>
          </p:nvPr>
        </p:nvCxnSpPr>
        <p:spPr>
          <a:xfrm flipV="1">
            <a:off x="1429042" y="1373220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" name="直接连接符 1"/>
          <p:cNvCxnSpPr/>
          <p:nvPr>
            <p:custDataLst>
              <p:tags r:id="rId5"/>
            </p:custDataLst>
          </p:nvPr>
        </p:nvCxnSpPr>
        <p:spPr>
          <a:xfrm>
            <a:off x="2717786" y="137322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直接连接符 68"/>
          <p:cNvCxnSpPr/>
          <p:nvPr>
            <p:custDataLst>
              <p:tags r:id="rId6"/>
            </p:custDataLst>
          </p:nvPr>
        </p:nvCxnSpPr>
        <p:spPr>
          <a:xfrm>
            <a:off x="1429042" y="1378439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>
            <p:custDataLst>
              <p:tags r:id="rId7"/>
            </p:custDataLst>
          </p:nvPr>
        </p:nvCxnSpPr>
        <p:spPr>
          <a:xfrm flipV="1">
            <a:off x="2734621" y="1944161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>
            <p:custDataLst>
              <p:tags r:id="rId8"/>
            </p:custDataLst>
          </p:nvPr>
        </p:nvCxnSpPr>
        <p:spPr>
          <a:xfrm>
            <a:off x="3995748" y="135655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>
            <p:custDataLst>
              <p:tags r:id="rId9"/>
            </p:custDataLst>
          </p:nvPr>
        </p:nvCxnSpPr>
        <p:spPr>
          <a:xfrm flipV="1">
            <a:off x="3995749" y="1368002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>
            <p:custDataLst>
              <p:tags r:id="rId10"/>
            </p:custDataLst>
          </p:nvPr>
        </p:nvCxnSpPr>
        <p:spPr>
          <a:xfrm>
            <a:off x="5284492" y="136800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>
            <p:custDataLst>
              <p:tags r:id="rId11"/>
            </p:custDataLst>
          </p:nvPr>
        </p:nvCxnSpPr>
        <p:spPr>
          <a:xfrm flipV="1">
            <a:off x="5301327" y="1938942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6590071" y="136177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V="1">
            <a:off x="6590071" y="1373221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7878815" y="137322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 flipV="1">
            <a:off x="7895650" y="1944161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9156777" y="135655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 flipV="1">
            <a:off x="9156778" y="1368002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10445521" y="136800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 flipV="1">
            <a:off x="10462357" y="1938942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>
            <p:custDataLst>
              <p:tags r:id="rId12"/>
            </p:custDataLst>
          </p:nvPr>
        </p:nvCxnSpPr>
        <p:spPr>
          <a:xfrm>
            <a:off x="3995748" y="1378439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>
            <p:custDataLst>
              <p:tags r:id="rId13"/>
            </p:custDataLst>
          </p:nvPr>
        </p:nvSpPr>
        <p:spPr>
          <a:xfrm>
            <a:off x="489585" y="3122930"/>
            <a:ext cx="2251710" cy="30111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busy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recv_count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issue_count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issue_pos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0 stage0_valid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stage0_last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stage0_pos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stage0_group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0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in_stream_ready = 1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input_fire = 1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4"/>
            </p:custDataLst>
          </p:nvPr>
        </p:nvSpPr>
        <p:spPr>
          <a:xfrm>
            <a:off x="485140" y="2348230"/>
            <a:ext cx="2251710" cy="6127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start = 1</a:t>
            </a:r>
            <a:r>
              <a:rPr lang="zh-CN" altLang="en-US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开始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in_stream_valid = 1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556000" y="3337560"/>
            <a:ext cx="5080000" cy="182880"/>
          </a:xfrm>
          <a:prstGeom prst="rect">
            <a:avLst/>
          </a:prstGeom>
        </p:spPr>
        <p:txBody>
          <a:bodyPr>
            <a:spAutoFit/>
          </a:bodyPr>
          <a:p>
            <a:pPr>
              <a:lnSpc>
                <a:spcPts val="715"/>
              </a:lnSpc>
            </a:pPr>
            <a:r>
              <a:rPr lang="en-US" altLang="zh-CN" sz="16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in_stream_valid</a:t>
            </a:r>
            <a:endParaRPr lang="en-US" altLang="zh-CN" sz="1600" b="0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6" name="文本框 25"/>
          <p:cNvSpPr txBox="1"/>
          <p:nvPr>
            <p:custDataLst>
              <p:tags r:id="rId15"/>
            </p:custDataLst>
          </p:nvPr>
        </p:nvSpPr>
        <p:spPr>
          <a:xfrm>
            <a:off x="3399155" y="2348230"/>
            <a:ext cx="2573020" cy="1917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recv_count = 1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loaded_pos_count = 1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issue_fire = 1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（有库存且总发射小于总数）</a:t>
            </a:r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  <a:p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6058535" y="2395220"/>
            <a:ext cx="1639570" cy="15100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stage0_valid = 1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issue_count = 1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issue_group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和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issue_pos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由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issue_count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计算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得到</a:t>
            </a:r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</p:txBody>
      </p:sp>
      <p:cxnSp>
        <p:nvCxnSpPr>
          <p:cNvPr id="31" name="直接连接符 30"/>
          <p:cNvCxnSpPr/>
          <p:nvPr>
            <p:custDataLst>
              <p:tags r:id="rId16"/>
            </p:custDataLst>
          </p:nvPr>
        </p:nvCxnSpPr>
        <p:spPr>
          <a:xfrm>
            <a:off x="6599248" y="1404474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4465320" y="4593907"/>
            <a:ext cx="5080000" cy="82994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1600" b="0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核心</a:t>
            </a:r>
            <a:r>
              <a:rPr lang="en-US" altLang="zh-CN" sz="1600" b="0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——</a:t>
            </a:r>
            <a:r>
              <a:rPr lang="zh-CN" altLang="en-US" sz="1600" b="0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发射至</a:t>
            </a:r>
            <a:r>
              <a:rPr lang="en-US" altLang="zh-CN" sz="1600" b="0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MAC</a:t>
            </a:r>
            <a:r>
              <a:rPr lang="zh-CN" altLang="en-US" sz="1600" b="0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的时机</a:t>
            </a:r>
            <a:endParaRPr lang="zh-CN" altLang="en-US" sz="1600" b="0" i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en-US" altLang="zh-CN" sz="1600" b="0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issue_fire = busy &amp;&amp; (issue_count &lt; TOKEN_COUNT) &amp;&amp; (issue_pos &lt; loaded_pos_count)</a:t>
            </a:r>
            <a:endParaRPr lang="en-US" altLang="zh-CN" sz="1600" b="0" i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4810125" y="5685472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1600" b="0" i="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仓库有多余</a:t>
            </a:r>
            <a:r>
              <a:rPr lang="en-US" altLang="zh-CN" sz="1600" b="0" i="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pos</a:t>
            </a:r>
            <a:r>
              <a:rPr lang="zh-CN" altLang="en-US" sz="1600" b="0" i="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级为发射且总发射</a:t>
            </a:r>
            <a:r>
              <a:rPr lang="en-US" altLang="zh-CN" sz="1600" b="0" i="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pos</a:t>
            </a:r>
            <a:r>
              <a:rPr lang="zh-CN" altLang="en-US" sz="1600" b="0" i="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未满</a:t>
            </a:r>
            <a:endParaRPr lang="zh-CN" altLang="en-US" sz="1600" b="0" i="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custDataLst>
      <p:tags r:id="rId17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56565" y="154305"/>
            <a:ext cx="5346065" cy="684530"/>
          </a:xfrm>
          <a:prstGeom prst="rect">
            <a:avLst/>
          </a:prstGeom>
        </p:spPr>
        <p:txBody>
          <a:bodyPr vert="horz" lIns="90000" tIns="46800" rIns="90000" bIns="46800" rtlCol="0" anchor="ctr" anchorCtr="0"/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>
                <a:solidFill>
                  <a:schemeClr val="accent5">
                    <a:lumMod val="60000"/>
                    <a:lumOff val="40000"/>
                  </a:schemeClr>
                </a:solidFill>
              </a:rPr>
              <a:t>PWconv_param_store</a:t>
            </a:r>
            <a:r>
              <a:rPr lang="zh-CN" altLang="en-US" sz="2800">
                <a:solidFill>
                  <a:schemeClr val="accent5">
                    <a:lumMod val="60000"/>
                    <a:lumOff val="40000"/>
                  </a:schemeClr>
                </a:solidFill>
              </a:rPr>
              <a:t>分析</a:t>
            </a:r>
            <a:endParaRPr lang="zh-CN" altLang="en-US" sz="280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9" name="表格 8"/>
          <p:cNvGraphicFramePr/>
          <p:nvPr>
            <p:custDataLst>
              <p:tags r:id="rId2"/>
            </p:custDataLst>
          </p:nvPr>
        </p:nvGraphicFramePr>
        <p:xfrm>
          <a:off x="1376680" y="1243965"/>
          <a:ext cx="44577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770"/>
                <a:gridCol w="445770"/>
                <a:gridCol w="445770"/>
                <a:gridCol w="445770"/>
                <a:gridCol w="267462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65760">
                <a:tc gridSpan="5"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65760">
                <a:tc gridSpan="5"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65760">
                <a:tc gridSpan="5"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65760">
                <a:tc gridSpan="5"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65760">
                <a:tc gridSpan="5"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65760">
                <a:tc gridSpan="5"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65760">
                <a:tc gridSpan="5"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65760">
                <a:tc gridSpan="5"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731520">
                <a:tc gridSpan="5"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2" name="文本框 11"/>
          <p:cNvSpPr txBox="1"/>
          <p:nvPr>
            <p:custDataLst>
              <p:tags r:id="rId3"/>
            </p:custDataLst>
          </p:nvPr>
        </p:nvSpPr>
        <p:spPr>
          <a:xfrm>
            <a:off x="1555750" y="776605"/>
            <a:ext cx="2223770" cy="3454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bank0:4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输入通道</a:t>
            </a:r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" name="左大括号 12"/>
          <p:cNvSpPr/>
          <p:nvPr/>
        </p:nvSpPr>
        <p:spPr>
          <a:xfrm rot="5400000">
            <a:off x="2244725" y="432435"/>
            <a:ext cx="114300" cy="1492885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左大括号 21"/>
          <p:cNvSpPr/>
          <p:nvPr/>
        </p:nvSpPr>
        <p:spPr>
          <a:xfrm>
            <a:off x="1262380" y="1243965"/>
            <a:ext cx="114300" cy="1492885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>
            <p:custDataLst>
              <p:tags r:id="rId4"/>
            </p:custDataLst>
          </p:nvPr>
        </p:nvSpPr>
        <p:spPr>
          <a:xfrm>
            <a:off x="236220" y="1637030"/>
            <a:ext cx="1206500" cy="8210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addr0: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输出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通道</a:t>
            </a:r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" name="左大括号 35"/>
          <p:cNvSpPr/>
          <p:nvPr/>
        </p:nvSpPr>
        <p:spPr>
          <a:xfrm rot="10800000">
            <a:off x="5944870" y="1351280"/>
            <a:ext cx="76200" cy="4905375"/>
          </a:xfrm>
          <a:prstGeom prst="leftBrace">
            <a:avLst>
              <a:gd name="adj1" fmla="val 0"/>
              <a:gd name="adj2" fmla="val 50000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>
            <p:custDataLst>
              <p:tags r:id="rId5"/>
            </p:custDataLst>
          </p:nvPr>
        </p:nvSpPr>
        <p:spPr>
          <a:xfrm>
            <a:off x="6065520" y="3631565"/>
            <a:ext cx="2223770" cy="5905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addr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0~7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depth=8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8" name="左大括号 37"/>
          <p:cNvSpPr/>
          <p:nvPr/>
        </p:nvSpPr>
        <p:spPr>
          <a:xfrm rot="16200000">
            <a:off x="3546475" y="4276090"/>
            <a:ext cx="90170" cy="4430395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>
            <p:custDataLst>
              <p:tags r:id="rId6"/>
            </p:custDataLst>
          </p:nvPr>
        </p:nvSpPr>
        <p:spPr>
          <a:xfrm>
            <a:off x="2724150" y="6529070"/>
            <a:ext cx="2223770" cy="3454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bank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0~7 8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个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1442720" y="1308100"/>
            <a:ext cx="1671955" cy="1329690"/>
          </a:xfrm>
          <a:prstGeom prst="round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lg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右箭头 40"/>
          <p:cNvSpPr/>
          <p:nvPr/>
        </p:nvSpPr>
        <p:spPr>
          <a:xfrm>
            <a:off x="3312795" y="1955165"/>
            <a:ext cx="3819525" cy="223520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43" name="表格 42"/>
          <p:cNvGraphicFramePr/>
          <p:nvPr>
            <p:custDataLst>
              <p:tags r:id="rId7"/>
            </p:custDataLst>
          </p:nvPr>
        </p:nvGraphicFramePr>
        <p:xfrm>
          <a:off x="7252970" y="1833245"/>
          <a:ext cx="1125220" cy="4130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5220"/>
              </a:tblGrid>
              <a:tr h="516255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516255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516255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516255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516255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516255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516255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516255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4" name="文本框 43"/>
          <p:cNvSpPr txBox="1"/>
          <p:nvPr>
            <p:custDataLst>
              <p:tags r:id="rId8"/>
            </p:custDataLst>
          </p:nvPr>
        </p:nvSpPr>
        <p:spPr>
          <a:xfrm>
            <a:off x="7442200" y="1487805"/>
            <a:ext cx="723265" cy="3454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bank0</a:t>
            </a:r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5" name="文本框 44"/>
          <p:cNvSpPr txBox="1"/>
          <p:nvPr>
            <p:custDataLst>
              <p:tags r:id="rId9"/>
            </p:custDataLst>
          </p:nvPr>
        </p:nvSpPr>
        <p:spPr>
          <a:xfrm>
            <a:off x="7084695" y="1894205"/>
            <a:ext cx="1769110" cy="3454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×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×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8=128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bit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49" name="表格 48"/>
          <p:cNvGraphicFramePr/>
          <p:nvPr>
            <p:custDataLst>
              <p:tags r:id="rId10"/>
            </p:custDataLst>
          </p:nvPr>
        </p:nvGraphicFramePr>
        <p:xfrm>
          <a:off x="8609965" y="1833245"/>
          <a:ext cx="1073785" cy="41294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3785"/>
              </a:tblGrid>
              <a:tr h="51435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51435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51435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51435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51435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51435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51435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528955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50" name="文本框 49"/>
          <p:cNvSpPr txBox="1"/>
          <p:nvPr>
            <p:custDataLst>
              <p:tags r:id="rId11"/>
            </p:custDataLst>
          </p:nvPr>
        </p:nvSpPr>
        <p:spPr>
          <a:xfrm>
            <a:off x="8787130" y="1487805"/>
            <a:ext cx="723265" cy="3454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bank1</a:t>
            </a:r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2" name="文本框 51"/>
          <p:cNvSpPr txBox="1"/>
          <p:nvPr>
            <p:custDataLst>
              <p:tags r:id="rId12"/>
            </p:custDataLst>
          </p:nvPr>
        </p:nvSpPr>
        <p:spPr>
          <a:xfrm>
            <a:off x="10209530" y="3733800"/>
            <a:ext cx="723265" cy="3454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. . . . . .</a:t>
            </a:r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3" name="文本框 52"/>
          <p:cNvSpPr txBox="1"/>
          <p:nvPr>
            <p:custDataLst>
              <p:tags r:id="rId13"/>
            </p:custDataLst>
          </p:nvPr>
        </p:nvSpPr>
        <p:spPr>
          <a:xfrm>
            <a:off x="9683750" y="1899285"/>
            <a:ext cx="723265" cy="3454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addr0</a:t>
            </a:r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4" name="文本框 53"/>
          <p:cNvSpPr txBox="1"/>
          <p:nvPr>
            <p:custDataLst>
              <p:tags r:id="rId14"/>
            </p:custDataLst>
          </p:nvPr>
        </p:nvSpPr>
        <p:spPr>
          <a:xfrm>
            <a:off x="9695180" y="2458085"/>
            <a:ext cx="723265" cy="3454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addr1</a:t>
            </a:r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5" name="文本框 54"/>
          <p:cNvSpPr txBox="1"/>
          <p:nvPr>
            <p:custDataLst>
              <p:tags r:id="rId15"/>
            </p:custDataLst>
          </p:nvPr>
        </p:nvSpPr>
        <p:spPr>
          <a:xfrm>
            <a:off x="9695180" y="2930525"/>
            <a:ext cx="723265" cy="3454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addr2</a:t>
            </a:r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6" name="文本框 55"/>
          <p:cNvSpPr txBox="1"/>
          <p:nvPr>
            <p:custDataLst>
              <p:tags r:id="rId16"/>
            </p:custDataLst>
          </p:nvPr>
        </p:nvSpPr>
        <p:spPr>
          <a:xfrm>
            <a:off x="9695180" y="3497580"/>
            <a:ext cx="723265" cy="3454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addr3</a:t>
            </a:r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7" name="文本框 56"/>
          <p:cNvSpPr txBox="1"/>
          <p:nvPr>
            <p:custDataLst>
              <p:tags r:id="rId17"/>
            </p:custDataLst>
          </p:nvPr>
        </p:nvSpPr>
        <p:spPr>
          <a:xfrm>
            <a:off x="9695180" y="3984625"/>
            <a:ext cx="723265" cy="3225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addr4</a:t>
            </a:r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8" name="文本框 57"/>
          <p:cNvSpPr txBox="1"/>
          <p:nvPr>
            <p:custDataLst>
              <p:tags r:id="rId18"/>
            </p:custDataLst>
          </p:nvPr>
        </p:nvSpPr>
        <p:spPr>
          <a:xfrm>
            <a:off x="9695180" y="4537075"/>
            <a:ext cx="723265" cy="3454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addr5</a:t>
            </a:r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9" name="文本框 58"/>
          <p:cNvSpPr txBox="1"/>
          <p:nvPr>
            <p:custDataLst>
              <p:tags r:id="rId19"/>
            </p:custDataLst>
          </p:nvPr>
        </p:nvSpPr>
        <p:spPr>
          <a:xfrm>
            <a:off x="9683750" y="5032375"/>
            <a:ext cx="723265" cy="3454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addr6</a:t>
            </a:r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0" name="文本框 59"/>
          <p:cNvSpPr txBox="1"/>
          <p:nvPr>
            <p:custDataLst>
              <p:tags r:id="rId20"/>
            </p:custDataLst>
          </p:nvPr>
        </p:nvSpPr>
        <p:spPr>
          <a:xfrm>
            <a:off x="9683750" y="5527675"/>
            <a:ext cx="723265" cy="3454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addr7</a:t>
            </a:r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" name="右箭头 60"/>
          <p:cNvSpPr/>
          <p:nvPr/>
        </p:nvSpPr>
        <p:spPr>
          <a:xfrm rot="16200000">
            <a:off x="7854315" y="1520190"/>
            <a:ext cx="646430" cy="223520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3" name="文本框 62"/>
          <p:cNvSpPr txBox="1"/>
          <p:nvPr>
            <p:custDataLst>
              <p:tags r:id="rId21"/>
            </p:custDataLst>
          </p:nvPr>
        </p:nvSpPr>
        <p:spPr>
          <a:xfrm>
            <a:off x="7339330" y="959485"/>
            <a:ext cx="2008505" cy="3454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对应一个输入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token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3556000" y="326040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lang="zh-CN" altLang="en-US" sz="1600" b="0" i="0">
                <a:solidFill>
                  <a:schemeClr val="tx1"/>
                </a:solidFill>
                <a:latin typeface="Segoe WPC"/>
                <a:ea typeface="Segoe WPC"/>
              </a:rPr>
              <a:t>并行度在 </a:t>
            </a:r>
            <a:r>
              <a:rPr lang="en-US" altLang="zh-CN" sz="1600" b="0" i="0">
                <a:solidFill>
                  <a:schemeClr val="tx1"/>
                </a:solidFill>
                <a:latin typeface="Segoe WPC"/>
                <a:ea typeface="Segoe WPC"/>
              </a:rPr>
              <a:t>bank </a:t>
            </a:r>
            <a:r>
              <a:rPr lang="zh-CN" altLang="en-US" sz="1600" b="0" i="0">
                <a:solidFill>
                  <a:schemeClr val="tx1"/>
                </a:solidFill>
                <a:latin typeface="Segoe WPC"/>
                <a:ea typeface="Segoe WPC"/>
              </a:rPr>
              <a:t>维</a:t>
            </a:r>
            <a:endParaRPr lang="zh-CN" altLang="en-US" sz="1600" b="0" i="0">
              <a:solidFill>
                <a:schemeClr val="tx1"/>
              </a:solidFill>
              <a:latin typeface="Segoe WPC"/>
              <a:ea typeface="Segoe WPC"/>
            </a:endParaRPr>
          </a:p>
        </p:txBody>
      </p:sp>
      <p:sp>
        <p:nvSpPr>
          <p:cNvPr id="67" name="圆角矩形 66"/>
          <p:cNvSpPr/>
          <p:nvPr/>
        </p:nvSpPr>
        <p:spPr>
          <a:xfrm>
            <a:off x="6775450" y="325755"/>
            <a:ext cx="4249420" cy="45085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8" name="文本框 67"/>
          <p:cNvSpPr txBox="1"/>
          <p:nvPr/>
        </p:nvSpPr>
        <p:spPr>
          <a:xfrm>
            <a:off x="6989445" y="379095"/>
            <a:ext cx="4318635" cy="326390"/>
          </a:xfrm>
          <a:prstGeom prst="rect">
            <a:avLst/>
          </a:prstGeom>
        </p:spPr>
        <p:txBody>
          <a:bodyPr>
            <a:noAutofit/>
          </a:bodyPr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1600" b="0" i="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核心：并行度在</a:t>
            </a:r>
            <a:r>
              <a:rPr lang="en-US" altLang="zh-CN" sz="1600" b="0" i="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bank </a:t>
            </a:r>
            <a:r>
              <a:rPr lang="zh-CN" altLang="en-US" sz="1600" b="0" i="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维，便于一拍出数据</a:t>
            </a:r>
            <a:endParaRPr lang="zh-CN" altLang="en-US" sz="1600" b="0" i="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70" name="表格 69"/>
          <p:cNvGraphicFramePr/>
          <p:nvPr>
            <p:custDataLst>
              <p:tags r:id="rId22"/>
            </p:custDataLst>
          </p:nvPr>
        </p:nvGraphicFramePr>
        <p:xfrm>
          <a:off x="10854055" y="1811020"/>
          <a:ext cx="1059180" cy="41516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9180"/>
              </a:tblGrid>
              <a:tr h="536575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51435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51435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51435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51435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51435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51435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528955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71" name="文本框 70"/>
          <p:cNvSpPr txBox="1"/>
          <p:nvPr>
            <p:custDataLst>
              <p:tags r:id="rId23"/>
            </p:custDataLst>
          </p:nvPr>
        </p:nvSpPr>
        <p:spPr>
          <a:xfrm>
            <a:off x="10854055" y="1465580"/>
            <a:ext cx="1183640" cy="3454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bank_bias</a:t>
            </a:r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2" name="文本框 71"/>
          <p:cNvSpPr txBox="1"/>
          <p:nvPr>
            <p:custDataLst>
              <p:tags r:id="rId24"/>
            </p:custDataLst>
          </p:nvPr>
        </p:nvSpPr>
        <p:spPr>
          <a:xfrm>
            <a:off x="10758805" y="1894205"/>
            <a:ext cx="1278890" cy="3454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×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16=64bit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custDataLst>
      <p:tags r:id="rId25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TABLE_ENDDRAG_ORIGIN_RECT" val="322*420"/>
  <p:tag name="TABLE_ENDDRAG_RECT" val="345*29*322*420"/>
</p:tagLst>
</file>

<file path=ppt/tags/tag73.xml><?xml version="1.0" encoding="utf-8"?>
<p:tagLst xmlns:p="http://schemas.openxmlformats.org/presentationml/2006/main">
  <p:tag name="TABLE_ENDDRAG_ORIGIN_RECT" val="217*240"/>
  <p:tag name="TABLE_ENDDRAG_RECT" val="695*30*217*240"/>
</p:tagLst>
</file>

<file path=ppt/tags/tag74.xml><?xml version="1.0" encoding="utf-8"?>
<p:tagLst xmlns:p="http://schemas.openxmlformats.org/presentationml/2006/main">
  <p:tag name="TABLE_ENDDRAG_ORIGIN_RECT" val="148*120"/>
  <p:tag name="TABLE_ENDDRAG_RECT" val="667*210*148*120"/>
</p:tagLst>
</file>

<file path=ppt/tags/tag75.xml><?xml version="1.0" encoding="utf-8"?>
<p:tagLst xmlns:p="http://schemas.openxmlformats.org/presentationml/2006/main">
  <p:tag name="TABLE_ENDDRAG_ORIGIN_RECT" val="148*120"/>
  <p:tag name="TABLE_ENDDRAG_RECT" val="667*210*148*120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TABLE_ENDDRAG_ORIGIN_RECT" val="315*464"/>
  <p:tag name="TABLE_ENDDRAG_RECT" val="311*54*315*464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DIAGRAM_VIRTUALLY_FRAME" val="{&quot;height&quot;:325.4848818897638,&quot;left&quot;:37.05,&quot;top&quot;:106.81511811023623,&quot;width&quot;:480.52771653543306}"/>
</p:tagLst>
</file>

<file path=ppt/tags/tag91.xml><?xml version="1.0" encoding="utf-8"?>
<p:tagLst xmlns:p="http://schemas.openxmlformats.org/presentationml/2006/main">
  <p:tag name="KSO_WM_DIAGRAM_VIRTUALLY_FRAME" val="{&quot;height&quot;:325.4848818897638,&quot;left&quot;:37.05,&quot;top&quot;:106.81511811023623,&quot;width&quot;:480.52771653543306}"/>
</p:tagLst>
</file>

<file path=ppt/tags/tag92.xml><?xml version="1.0" encoding="utf-8"?>
<p:tagLst xmlns:p="http://schemas.openxmlformats.org/presentationml/2006/main">
  <p:tag name="KSO_WM_DIAGRAM_VIRTUALLY_FRAME" val="{&quot;height&quot;:325.4848818897638,&quot;left&quot;:37.05,&quot;top&quot;:106.81511811023623,&quot;width&quot;:480.52771653543306}"/>
</p:tagLst>
</file>

<file path=ppt/tags/tag93.xml><?xml version="1.0" encoding="utf-8"?>
<p:tagLst xmlns:p="http://schemas.openxmlformats.org/presentationml/2006/main">
  <p:tag name="KSO_WM_DIAGRAM_VIRTUALLY_FRAME" val="{&quot;height&quot;:325.4848818897638,&quot;left&quot;:37.05,&quot;top&quot;:106.81511811023623,&quot;width&quot;:480.52771653543306}"/>
</p:tagLst>
</file>

<file path=ppt/tags/tag94.xml><?xml version="1.0" encoding="utf-8"?>
<p:tagLst xmlns:p="http://schemas.openxmlformats.org/presentationml/2006/main">
  <p:tag name="KSO_WM_DIAGRAM_VIRTUALLY_FRAME" val="{&quot;height&quot;:325.4848818897638,&quot;left&quot;:37.05,&quot;top&quot;:106.81511811023623,&quot;width&quot;:480.52771653543306}"/>
</p:tagLst>
</file>

<file path=ppt/tags/tag95.xml><?xml version="1.0" encoding="utf-8"?>
<p:tagLst xmlns:p="http://schemas.openxmlformats.org/presentationml/2006/main">
  <p:tag name="KSO_WM_DIAGRAM_VIRTUALLY_FRAME" val="{&quot;height&quot;:325.4848818897638,&quot;left&quot;:37.05,&quot;top&quot;:106.81511811023623,&quot;width&quot;:480.52771653543306}"/>
</p:tagLst>
</file>

<file path=ppt/tags/tag96.xml><?xml version="1.0" encoding="utf-8"?>
<p:tagLst xmlns:p="http://schemas.openxmlformats.org/presentationml/2006/main">
  <p:tag name="KSO_WM_DIAGRAM_VIRTUALLY_FRAME" val="{&quot;height&quot;:325.4848818897638,&quot;left&quot;:37.05,&quot;top&quot;:106.81511811023623,&quot;width&quot;:480.52771653543306}"/>
</p:tagLst>
</file>

<file path=ppt/tags/tag97.xml><?xml version="1.0" encoding="utf-8"?>
<p:tagLst xmlns:p="http://schemas.openxmlformats.org/presentationml/2006/main">
  <p:tag name="KSO_WM_DIAGRAM_VIRTUALLY_FRAME" val="{&quot;height&quot;:325.4848818897638,&quot;left&quot;:37.05,&quot;top&quot;:106.81511811023623,&quot;width&quot;:480.52771653543306}"/>
</p:tagLst>
</file>

<file path=ppt/tags/tag98.xml><?xml version="1.0" encoding="utf-8"?>
<p:tagLst xmlns:p="http://schemas.openxmlformats.org/presentationml/2006/main">
  <p:tag name="KSO_WM_DIAGRAM_VIRTUALLY_FRAME" val="{&quot;height&quot;:325.4848818897638,&quot;left&quot;:37.05,&quot;top&quot;:106.81511811023623,&quot;width&quot;:480.52771653543306}"/>
</p:tagLst>
</file>

<file path=ppt/tags/tag99.xml><?xml version="1.0" encoding="utf-8"?>
<p:tagLst xmlns:p="http://schemas.openxmlformats.org/presentationml/2006/main">
  <p:tag name="KSO_WM_DIAGRAM_VIRTUALLY_FRAME" val="{&quot;height&quot;:325.4848818897638,&quot;left&quot;:37.05,&quot;top&quot;:106.81511811023623,&quot;width&quot;:480.52771653543306}"/>
</p:tagLst>
</file>

<file path=ppt/tags/tag100.xml><?xml version="1.0" encoding="utf-8"?>
<p:tagLst xmlns:p="http://schemas.openxmlformats.org/presentationml/2006/main">
  <p:tag name="KSO_WM_DIAGRAM_VIRTUALLY_FRAME" val="{&quot;height&quot;:325.4848818897638,&quot;left&quot;:37.05,&quot;top&quot;:106.81511811023623,&quot;width&quot;:480.52771653543306}"/>
</p:tagLst>
</file>

<file path=ppt/tags/tag101.xml><?xml version="1.0" encoding="utf-8"?>
<p:tagLst xmlns:p="http://schemas.openxmlformats.org/presentationml/2006/main">
  <p:tag name="KSO_WM_DIAGRAM_VIRTUALLY_FRAME" val="{&quot;height&quot;:325.4848818897638,&quot;left&quot;:37.05,&quot;top&quot;:106.81511811023623,&quot;width&quot;:480.52771653543306}"/>
</p:tagLst>
</file>

<file path=ppt/tags/tag102.xml><?xml version="1.0" encoding="utf-8"?>
<p:tagLst xmlns:p="http://schemas.openxmlformats.org/presentationml/2006/main">
  <p:tag name="KSO_WM_DIAGRAM_VIRTUALLY_FRAME" val="{&quot;height&quot;:325.4848818897638,&quot;left&quot;:37.05,&quot;top&quot;:106.81511811023623,&quot;width&quot;:480.52771653543306}"/>
</p:tagLst>
</file>

<file path=ppt/tags/tag103.xml><?xml version="1.0" encoding="utf-8"?>
<p:tagLst xmlns:p="http://schemas.openxmlformats.org/presentationml/2006/main">
  <p:tag name="KSO_WM_DIAGRAM_VIRTUALLY_FRAME" val="{&quot;height&quot;:325.4848818897638,&quot;left&quot;:37.05,&quot;top&quot;:106.81511811023623,&quot;width&quot;:480.52771653543306}"/>
</p:tagLst>
</file>

<file path=ppt/tags/tag104.xml><?xml version="1.0" encoding="utf-8"?>
<p:tagLst xmlns:p="http://schemas.openxmlformats.org/presentationml/2006/main">
  <p:tag name="KSO_WM_DIAGRAM_VIRTUALLY_FRAME" val="{&quot;height&quot;:325.4848818897638,&quot;left&quot;:37.05,&quot;top&quot;:106.81511811023623,&quot;width&quot;:480.52771653543306}"/>
</p:tagLst>
</file>

<file path=ppt/tags/tag10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TABLE_ENDDRAG_ORIGIN_RECT" val="351*389"/>
  <p:tag name="TABLE_ENDDRAG_RECT" val="167*150*351*389"/>
</p:tagLst>
</file>

<file path=ppt/tags/tag108.xml><?xml version="1.0" encoding="utf-8"?>
<p:tagLst xmlns:p="http://schemas.openxmlformats.org/presentationml/2006/main">
  <p:tag name="KSO_WM_DIAGRAM_VIRTUALLY_FRAME" val="{&quot;height&quot;:325.4848818897638,&quot;left&quot;:37.05,&quot;top&quot;:106.81511811023623,&quot;width&quot;:480.52771653543306}"/>
</p:tagLst>
</file>

<file path=ppt/tags/tag109.xml><?xml version="1.0" encoding="utf-8"?>
<p:tagLst xmlns:p="http://schemas.openxmlformats.org/presentationml/2006/main">
  <p:tag name="KSO_WM_DIAGRAM_VIRTUALLY_FRAME" val="{&quot;height&quot;:325.4848818897638,&quot;left&quot;:37.05,&quot;top&quot;:106.81511811023623,&quot;width&quot;:480.52771653543306}"/>
</p:tagLst>
</file>

<file path=ppt/tags/tag110.xml><?xml version="1.0" encoding="utf-8"?>
<p:tagLst xmlns:p="http://schemas.openxmlformats.org/presentationml/2006/main">
  <p:tag name="KSO_WM_DIAGRAM_VIRTUALLY_FRAME" val="{&quot;height&quot;:325.4848818897638,&quot;left&quot;:37.05,&quot;top&quot;:106.81511811023623,&quot;width&quot;:480.52771653543306}"/>
</p:tagLst>
</file>

<file path=ppt/tags/tag111.xml><?xml version="1.0" encoding="utf-8"?>
<p:tagLst xmlns:p="http://schemas.openxmlformats.org/presentationml/2006/main">
  <p:tag name="KSO_WM_DIAGRAM_VIRTUALLY_FRAME" val="{&quot;height&quot;:325.4848818897638,&quot;left&quot;:37.05,&quot;top&quot;:106.81511811023623,&quot;width&quot;:480.52771653543306}"/>
</p:tagLst>
</file>

<file path=ppt/tags/tag112.xml><?xml version="1.0" encoding="utf-8"?>
<p:tagLst xmlns:p="http://schemas.openxmlformats.org/presentationml/2006/main">
  <p:tag name="TABLE_ENDDRAG_ORIGIN_RECT" val="88*325"/>
  <p:tag name="TABLE_ENDDRAG_RECT" val="571*144*88*325"/>
</p:tagLst>
</file>

<file path=ppt/tags/tag113.xml><?xml version="1.0" encoding="utf-8"?>
<p:tagLst xmlns:p="http://schemas.openxmlformats.org/presentationml/2006/main">
  <p:tag name="KSO_WM_DIAGRAM_VIRTUALLY_FRAME" val="{&quot;height&quot;:325.4848818897638,&quot;left&quot;:37.05,&quot;top&quot;:106.81511811023623,&quot;width&quot;:480.52771653543306}"/>
</p:tagLst>
</file>

<file path=ppt/tags/tag114.xml><?xml version="1.0" encoding="utf-8"?>
<p:tagLst xmlns:p="http://schemas.openxmlformats.org/presentationml/2006/main">
  <p:tag name="KSO_WM_DIAGRAM_VIRTUALLY_FRAME" val="{&quot;height&quot;:325.4848818897638,&quot;left&quot;:37.05,&quot;top&quot;:106.81511811023623,&quot;width&quot;:480.52771653543306}"/>
</p:tagLst>
</file>

<file path=ppt/tags/tag115.xml><?xml version="1.0" encoding="utf-8"?>
<p:tagLst xmlns:p="http://schemas.openxmlformats.org/presentationml/2006/main">
  <p:tag name="TABLE_ENDDRAG_ORIGIN_RECT" val="131*323"/>
  <p:tag name="TABLE_ENDDRAG_RECT" val="602*139*131*323"/>
</p:tagLst>
</file>

<file path=ppt/tags/tag116.xml><?xml version="1.0" encoding="utf-8"?>
<p:tagLst xmlns:p="http://schemas.openxmlformats.org/presentationml/2006/main">
  <p:tag name="KSO_WM_DIAGRAM_VIRTUALLY_FRAME" val="{&quot;height&quot;:325.4848818897638,&quot;left&quot;:37.05,&quot;top&quot;:106.81511811023623,&quot;width&quot;:480.52771653543306}"/>
</p:tagLst>
</file>

<file path=ppt/tags/tag117.xml><?xml version="1.0" encoding="utf-8"?>
<p:tagLst xmlns:p="http://schemas.openxmlformats.org/presentationml/2006/main">
  <p:tag name="KSO_WM_DIAGRAM_VIRTUALLY_FRAME" val="{&quot;height&quot;:325.4848818897638,&quot;left&quot;:37.05,&quot;top&quot;:106.81511811023623,&quot;width&quot;:480.52771653543306}"/>
</p:tagLst>
</file>

<file path=ppt/tags/tag118.xml><?xml version="1.0" encoding="utf-8"?>
<p:tagLst xmlns:p="http://schemas.openxmlformats.org/presentationml/2006/main">
  <p:tag name="KSO_WM_DIAGRAM_VIRTUALLY_FRAME" val="{&quot;height&quot;:325.4848818897638,&quot;left&quot;:37.05,&quot;top&quot;:106.81511811023623,&quot;width&quot;:480.52771653543306}"/>
</p:tagLst>
</file>

<file path=ppt/tags/tag119.xml><?xml version="1.0" encoding="utf-8"?>
<p:tagLst xmlns:p="http://schemas.openxmlformats.org/presentationml/2006/main">
  <p:tag name="KSO_WM_DIAGRAM_VIRTUALLY_FRAME" val="{&quot;height&quot;:325.4848818897638,&quot;left&quot;:37.05,&quot;top&quot;:106.81511811023623,&quot;width&quot;:480.52771653543306}"/>
</p:tagLst>
</file>

<file path=ppt/tags/tag120.xml><?xml version="1.0" encoding="utf-8"?>
<p:tagLst xmlns:p="http://schemas.openxmlformats.org/presentationml/2006/main">
  <p:tag name="KSO_WM_DIAGRAM_VIRTUALLY_FRAME" val="{&quot;height&quot;:325.4848818897638,&quot;left&quot;:37.05,&quot;top&quot;:106.81511811023623,&quot;width&quot;:480.52771653543306}"/>
</p:tagLst>
</file>

<file path=ppt/tags/tag121.xml><?xml version="1.0" encoding="utf-8"?>
<p:tagLst xmlns:p="http://schemas.openxmlformats.org/presentationml/2006/main">
  <p:tag name="KSO_WM_DIAGRAM_VIRTUALLY_FRAME" val="{&quot;height&quot;:325.4848818897638,&quot;left&quot;:37.05,&quot;top&quot;:106.81511811023623,&quot;width&quot;:480.52771653543306}"/>
</p:tagLst>
</file>

<file path=ppt/tags/tag122.xml><?xml version="1.0" encoding="utf-8"?>
<p:tagLst xmlns:p="http://schemas.openxmlformats.org/presentationml/2006/main">
  <p:tag name="KSO_WM_DIAGRAM_VIRTUALLY_FRAME" val="{&quot;height&quot;:325.4848818897638,&quot;left&quot;:37.05,&quot;top&quot;:106.81511811023623,&quot;width&quot;:480.52771653543306}"/>
</p:tagLst>
</file>

<file path=ppt/tags/tag123.xml><?xml version="1.0" encoding="utf-8"?>
<p:tagLst xmlns:p="http://schemas.openxmlformats.org/presentationml/2006/main">
  <p:tag name="KSO_WM_DIAGRAM_VIRTUALLY_FRAME" val="{&quot;height&quot;:325.4848818897638,&quot;left&quot;:37.05,&quot;top&quot;:106.81511811023623,&quot;width&quot;:480.52771653543306}"/>
</p:tagLst>
</file>

<file path=ppt/tags/tag124.xml><?xml version="1.0" encoding="utf-8"?>
<p:tagLst xmlns:p="http://schemas.openxmlformats.org/presentationml/2006/main">
  <p:tag name="KSO_WM_DIAGRAM_VIRTUALLY_FRAME" val="{&quot;height&quot;:325.4848818897638,&quot;left&quot;:37.05,&quot;top&quot;:106.81511811023623,&quot;width&quot;:480.52771653543306}"/>
</p:tagLst>
</file>

<file path=ppt/tags/tag125.xml><?xml version="1.0" encoding="utf-8"?>
<p:tagLst xmlns:p="http://schemas.openxmlformats.org/presentationml/2006/main">
  <p:tag name="KSO_WM_DIAGRAM_VIRTUALLY_FRAME" val="{&quot;height&quot;:325.4848818897638,&quot;left&quot;:37.05,&quot;top&quot;:106.81511811023623,&quot;width&quot;:480.52771653543306}"/>
</p:tagLst>
</file>

<file path=ppt/tags/tag126.xml><?xml version="1.0" encoding="utf-8"?>
<p:tagLst xmlns:p="http://schemas.openxmlformats.org/presentationml/2006/main">
  <p:tag name="KSO_WM_DIAGRAM_VIRTUALLY_FRAME" val="{&quot;height&quot;:325.4848818897638,&quot;left&quot;:37.05,&quot;top&quot;:106.81511811023623,&quot;width&quot;:480.52771653543306}"/>
</p:tagLst>
</file>

<file path=ppt/tags/tag127.xml><?xml version="1.0" encoding="utf-8"?>
<p:tagLst xmlns:p="http://schemas.openxmlformats.org/presentationml/2006/main">
  <p:tag name="TABLE_ENDDRAG_ORIGIN_RECT" val="131*323"/>
  <p:tag name="TABLE_ENDDRAG_RECT" val="602*139*131*323"/>
</p:tagLst>
</file>

<file path=ppt/tags/tag128.xml><?xml version="1.0" encoding="utf-8"?>
<p:tagLst xmlns:p="http://schemas.openxmlformats.org/presentationml/2006/main">
  <p:tag name="KSO_WM_DIAGRAM_VIRTUALLY_FRAME" val="{&quot;height&quot;:325.4848818897638,&quot;left&quot;:37.05,&quot;top&quot;:106.81511811023623,&quot;width&quot;:480.52771653543306}"/>
</p:tagLst>
</file>

<file path=ppt/tags/tag129.xml><?xml version="1.0" encoding="utf-8"?>
<p:tagLst xmlns:p="http://schemas.openxmlformats.org/presentationml/2006/main">
  <p:tag name="KSO_WM_DIAGRAM_VIRTUALLY_FRAME" val="{&quot;height&quot;:325.4848818897638,&quot;left&quot;:37.05,&quot;top&quot;:106.81511811023623,&quot;width&quot;:480.52771653543306}"/>
</p:tagLst>
</file>

<file path=ppt/tags/tag13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1882</Words>
  <Application>WPS 演示</Application>
  <PresentationFormat>宽屏</PresentationFormat>
  <Paragraphs>221</Paragraphs>
  <Slides>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4" baseType="lpstr">
      <vt:lpstr>Arial</vt:lpstr>
      <vt:lpstr>宋体</vt:lpstr>
      <vt:lpstr>Wingdings</vt:lpstr>
      <vt:lpstr>Wingdings</vt:lpstr>
      <vt:lpstr>微软雅黑</vt:lpstr>
      <vt:lpstr>Times New Roman</vt:lpstr>
      <vt:lpstr>Arial Unicode MS</vt:lpstr>
      <vt:lpstr>Calibri</vt:lpstr>
      <vt:lpstr>Consolas</vt:lpstr>
      <vt:lpstr>Consolas</vt:lpstr>
      <vt:lpstr>Arial</vt:lpstr>
      <vt:lpstr>Segoe WPC</vt:lpstr>
      <vt:lpstr>Segoe WPC</vt:lpstr>
      <vt:lpstr>SJBesse</vt:lpstr>
      <vt:lpstr>WPS</vt:lpstr>
      <vt:lpstr>系统级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待做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初城゛ 陶秭妜</cp:lastModifiedBy>
  <cp:revision>159</cp:revision>
  <dcterms:created xsi:type="dcterms:W3CDTF">2019-06-19T02:08:00Z</dcterms:created>
  <dcterms:modified xsi:type="dcterms:W3CDTF">2026-03-31T14:53:28Z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5480761E8D20486C9F3D31905D392D91_11</vt:lpwstr>
  </property>
</Properties>
</file>