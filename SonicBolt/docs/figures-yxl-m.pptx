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4AA47739-3D85-4A94-94B9-649406E753AD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wconv" id="{C5C68FCE-E216-402E-A62D-1FE2708A7B64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17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7FE"/>
    <a:srgbClr val="EDD0FE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140" y="72"/>
      </p:cViewPr>
      <p:guideLst>
        <p:guide orient="horz" pos="2217"/>
        <p:guide pos="381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2026/4/6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70.xml"/><Relationship Id="rId3" Type="http://schemas.openxmlformats.org/officeDocument/2006/relationships/tags" Target="../tags/tag65.xml"/><Relationship Id="rId7" Type="http://schemas.openxmlformats.org/officeDocument/2006/relationships/tags" Target="../tags/tag69.xml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6" Type="http://schemas.openxmlformats.org/officeDocument/2006/relationships/tags" Target="../tags/tag68.xml"/><Relationship Id="rId5" Type="http://schemas.openxmlformats.org/officeDocument/2006/relationships/tags" Target="../tags/tag67.xml"/><Relationship Id="rId4" Type="http://schemas.openxmlformats.org/officeDocument/2006/relationships/tags" Target="../tags/tag66.xml"/><Relationship Id="rId9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7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72.xml"/><Relationship Id="rId1" Type="http://schemas.openxmlformats.org/officeDocument/2006/relationships/tags" Target="../tags/tag71.xml"/><Relationship Id="rId6" Type="http://schemas.openxmlformats.org/officeDocument/2006/relationships/tags" Target="../tags/tag76.xml"/><Relationship Id="rId5" Type="http://schemas.openxmlformats.org/officeDocument/2006/relationships/tags" Target="../tags/tag75.xml"/><Relationship Id="rId4" Type="http://schemas.openxmlformats.org/officeDocument/2006/relationships/tags" Target="../tags/tag7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79.xml"/><Relationship Id="rId2" Type="http://schemas.openxmlformats.org/officeDocument/2006/relationships/tags" Target="../tags/tag78.xml"/><Relationship Id="rId1" Type="http://schemas.openxmlformats.org/officeDocument/2006/relationships/tags" Target="../tags/tag77.xml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1.xml"/><Relationship Id="rId1" Type="http://schemas.openxmlformats.org/officeDocument/2006/relationships/tags" Target="../tags/tag8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3.xml"/><Relationship Id="rId1" Type="http://schemas.openxmlformats.org/officeDocument/2006/relationships/tags" Target="../tags/tag8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88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4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96.xml"/><Relationship Id="rId13" Type="http://schemas.openxmlformats.org/officeDocument/2006/relationships/tags" Target="../tags/tag101.xml"/><Relationship Id="rId18" Type="http://schemas.openxmlformats.org/officeDocument/2006/relationships/slideLayout" Target="../slideLayouts/slideLayout2.xml"/><Relationship Id="rId3" Type="http://schemas.openxmlformats.org/officeDocument/2006/relationships/tags" Target="../tags/tag91.xml"/><Relationship Id="rId7" Type="http://schemas.openxmlformats.org/officeDocument/2006/relationships/tags" Target="../tags/tag95.xml"/><Relationship Id="rId12" Type="http://schemas.openxmlformats.org/officeDocument/2006/relationships/tags" Target="../tags/tag100.xml"/><Relationship Id="rId17" Type="http://schemas.openxmlformats.org/officeDocument/2006/relationships/tags" Target="../tags/tag105.xml"/><Relationship Id="rId2" Type="http://schemas.openxmlformats.org/officeDocument/2006/relationships/tags" Target="../tags/tag90.xml"/><Relationship Id="rId16" Type="http://schemas.openxmlformats.org/officeDocument/2006/relationships/tags" Target="../tags/tag104.xml"/><Relationship Id="rId1" Type="http://schemas.openxmlformats.org/officeDocument/2006/relationships/tags" Target="../tags/tag89.xml"/><Relationship Id="rId6" Type="http://schemas.openxmlformats.org/officeDocument/2006/relationships/tags" Target="../tags/tag94.xml"/><Relationship Id="rId11" Type="http://schemas.openxmlformats.org/officeDocument/2006/relationships/tags" Target="../tags/tag99.xml"/><Relationship Id="rId5" Type="http://schemas.openxmlformats.org/officeDocument/2006/relationships/tags" Target="../tags/tag93.xml"/><Relationship Id="rId15" Type="http://schemas.openxmlformats.org/officeDocument/2006/relationships/tags" Target="../tags/tag103.xml"/><Relationship Id="rId10" Type="http://schemas.openxmlformats.org/officeDocument/2006/relationships/tags" Target="../tags/tag98.xml"/><Relationship Id="rId4" Type="http://schemas.openxmlformats.org/officeDocument/2006/relationships/tags" Target="../tags/tag92.xml"/><Relationship Id="rId9" Type="http://schemas.openxmlformats.org/officeDocument/2006/relationships/tags" Target="../tags/tag97.xml"/><Relationship Id="rId14" Type="http://schemas.openxmlformats.org/officeDocument/2006/relationships/tags" Target="../tags/tag10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13.xml"/><Relationship Id="rId13" Type="http://schemas.openxmlformats.org/officeDocument/2006/relationships/tags" Target="../tags/tag118.xml"/><Relationship Id="rId18" Type="http://schemas.openxmlformats.org/officeDocument/2006/relationships/tags" Target="../tags/tag123.xml"/><Relationship Id="rId26" Type="http://schemas.openxmlformats.org/officeDocument/2006/relationships/slideLayout" Target="../slideLayouts/slideLayout2.xml"/><Relationship Id="rId3" Type="http://schemas.openxmlformats.org/officeDocument/2006/relationships/tags" Target="../tags/tag108.xml"/><Relationship Id="rId21" Type="http://schemas.openxmlformats.org/officeDocument/2006/relationships/tags" Target="../tags/tag126.xml"/><Relationship Id="rId7" Type="http://schemas.openxmlformats.org/officeDocument/2006/relationships/tags" Target="../tags/tag112.xml"/><Relationship Id="rId12" Type="http://schemas.openxmlformats.org/officeDocument/2006/relationships/tags" Target="../tags/tag117.xml"/><Relationship Id="rId17" Type="http://schemas.openxmlformats.org/officeDocument/2006/relationships/tags" Target="../tags/tag122.xml"/><Relationship Id="rId25" Type="http://schemas.openxmlformats.org/officeDocument/2006/relationships/tags" Target="../tags/tag130.xml"/><Relationship Id="rId2" Type="http://schemas.openxmlformats.org/officeDocument/2006/relationships/tags" Target="../tags/tag107.xml"/><Relationship Id="rId16" Type="http://schemas.openxmlformats.org/officeDocument/2006/relationships/tags" Target="../tags/tag121.xml"/><Relationship Id="rId20" Type="http://schemas.openxmlformats.org/officeDocument/2006/relationships/tags" Target="../tags/tag125.xml"/><Relationship Id="rId1" Type="http://schemas.openxmlformats.org/officeDocument/2006/relationships/tags" Target="../tags/tag106.xml"/><Relationship Id="rId6" Type="http://schemas.openxmlformats.org/officeDocument/2006/relationships/tags" Target="../tags/tag111.xml"/><Relationship Id="rId11" Type="http://schemas.openxmlformats.org/officeDocument/2006/relationships/tags" Target="../tags/tag116.xml"/><Relationship Id="rId24" Type="http://schemas.openxmlformats.org/officeDocument/2006/relationships/tags" Target="../tags/tag129.xml"/><Relationship Id="rId5" Type="http://schemas.openxmlformats.org/officeDocument/2006/relationships/tags" Target="../tags/tag110.xml"/><Relationship Id="rId15" Type="http://schemas.openxmlformats.org/officeDocument/2006/relationships/tags" Target="../tags/tag120.xml"/><Relationship Id="rId23" Type="http://schemas.openxmlformats.org/officeDocument/2006/relationships/tags" Target="../tags/tag128.xml"/><Relationship Id="rId10" Type="http://schemas.openxmlformats.org/officeDocument/2006/relationships/tags" Target="../tags/tag115.xml"/><Relationship Id="rId19" Type="http://schemas.openxmlformats.org/officeDocument/2006/relationships/tags" Target="../tags/tag124.xml"/><Relationship Id="rId4" Type="http://schemas.openxmlformats.org/officeDocument/2006/relationships/tags" Target="../tags/tag109.xml"/><Relationship Id="rId9" Type="http://schemas.openxmlformats.org/officeDocument/2006/relationships/tags" Target="../tags/tag114.xml"/><Relationship Id="rId14" Type="http://schemas.openxmlformats.org/officeDocument/2006/relationships/tags" Target="../tags/tag119.xml"/><Relationship Id="rId22" Type="http://schemas.openxmlformats.org/officeDocument/2006/relationships/tags" Target="../tags/tag12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38.xml"/><Relationship Id="rId13" Type="http://schemas.openxmlformats.org/officeDocument/2006/relationships/tags" Target="../tags/tag143.xml"/><Relationship Id="rId18" Type="http://schemas.openxmlformats.org/officeDocument/2006/relationships/tags" Target="../tags/tag148.xml"/><Relationship Id="rId3" Type="http://schemas.openxmlformats.org/officeDocument/2006/relationships/tags" Target="../tags/tag133.xml"/><Relationship Id="rId7" Type="http://schemas.openxmlformats.org/officeDocument/2006/relationships/tags" Target="../tags/tag137.xml"/><Relationship Id="rId12" Type="http://schemas.openxmlformats.org/officeDocument/2006/relationships/tags" Target="../tags/tag142.xml"/><Relationship Id="rId17" Type="http://schemas.openxmlformats.org/officeDocument/2006/relationships/tags" Target="../tags/tag147.xml"/><Relationship Id="rId2" Type="http://schemas.openxmlformats.org/officeDocument/2006/relationships/tags" Target="../tags/tag132.xml"/><Relationship Id="rId16" Type="http://schemas.openxmlformats.org/officeDocument/2006/relationships/tags" Target="../tags/tag146.xml"/><Relationship Id="rId20" Type="http://schemas.openxmlformats.org/officeDocument/2006/relationships/slideLayout" Target="../slideLayouts/slideLayout2.xml"/><Relationship Id="rId1" Type="http://schemas.openxmlformats.org/officeDocument/2006/relationships/tags" Target="../tags/tag131.xml"/><Relationship Id="rId6" Type="http://schemas.openxmlformats.org/officeDocument/2006/relationships/tags" Target="../tags/tag136.xml"/><Relationship Id="rId11" Type="http://schemas.openxmlformats.org/officeDocument/2006/relationships/tags" Target="../tags/tag141.xml"/><Relationship Id="rId5" Type="http://schemas.openxmlformats.org/officeDocument/2006/relationships/tags" Target="../tags/tag135.xml"/><Relationship Id="rId15" Type="http://schemas.openxmlformats.org/officeDocument/2006/relationships/tags" Target="../tags/tag145.xml"/><Relationship Id="rId10" Type="http://schemas.openxmlformats.org/officeDocument/2006/relationships/tags" Target="../tags/tag140.xml"/><Relationship Id="rId19" Type="http://schemas.openxmlformats.org/officeDocument/2006/relationships/tags" Target="../tags/tag149.xml"/><Relationship Id="rId4" Type="http://schemas.openxmlformats.org/officeDocument/2006/relationships/tags" Target="../tags/tag134.xml"/><Relationship Id="rId9" Type="http://schemas.openxmlformats.org/officeDocument/2006/relationships/tags" Target="../tags/tag139.xml"/><Relationship Id="rId14" Type="http://schemas.openxmlformats.org/officeDocument/2006/relationships/tags" Target="../tags/tag1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408305" y="1661160"/>
            <a:ext cx="1524000" cy="684530"/>
          </a:xfrm>
        </p:spPr>
        <p:txBody>
          <a:bodyPr>
            <a:normAutofit/>
          </a:bodyPr>
          <a:lstStyle/>
          <a:p>
            <a:r>
              <a:rPr lang="zh-CN" altLang="en-US" sz="2400"/>
              <a:t>系统级</a:t>
            </a:r>
          </a:p>
        </p:txBody>
      </p:sp>
      <p:sp>
        <p:nvSpPr>
          <p:cNvPr id="5" name="标题 1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3020060" y="2644140"/>
            <a:ext cx="1524000" cy="68453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/>
              <a:t>计算</a:t>
            </a:r>
          </a:p>
        </p:txBody>
      </p:sp>
      <p:sp>
        <p:nvSpPr>
          <p:cNvPr id="6" name="标题 1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367665" y="4790440"/>
            <a:ext cx="8121650" cy="68453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/>
              <a:t>单元级</a:t>
            </a:r>
            <a:r>
              <a:rPr lang="en-US" altLang="zh-CN" sz="2400"/>
              <a:t> </a:t>
            </a:r>
            <a:r>
              <a:rPr lang="zh-CN" altLang="en-US" sz="2400"/>
              <a:t>寄存器、储存器</a:t>
            </a:r>
          </a:p>
        </p:txBody>
      </p:sp>
      <p:sp>
        <p:nvSpPr>
          <p:cNvPr id="7" name="圆角矩形 6"/>
          <p:cNvSpPr/>
          <p:nvPr/>
        </p:nvSpPr>
        <p:spPr>
          <a:xfrm>
            <a:off x="4289425" y="1525905"/>
            <a:ext cx="2171700" cy="75184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>
                <a:solidFill>
                  <a:schemeClr val="tx1"/>
                </a:solidFill>
              </a:rPr>
              <a:t>CNN_top.v</a:t>
            </a:r>
          </a:p>
        </p:txBody>
      </p:sp>
      <p:sp>
        <p:nvSpPr>
          <p:cNvPr id="8" name="圆角矩形 7"/>
          <p:cNvSpPr/>
          <p:nvPr/>
        </p:nvSpPr>
        <p:spPr>
          <a:xfrm>
            <a:off x="1534795" y="3249930"/>
            <a:ext cx="4048760" cy="6362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>
                <a:solidFill>
                  <a:schemeClr val="tx1"/>
                </a:solidFill>
              </a:rPr>
              <a:t>SA1.v 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SA_2.v SA_3.v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卷积</a:t>
            </a:r>
          </a:p>
        </p:txBody>
      </p:sp>
      <p:sp>
        <p:nvSpPr>
          <p:cNvPr id="10" name="圆角矩形 9"/>
          <p:cNvSpPr/>
          <p:nvPr/>
        </p:nvSpPr>
        <p:spPr>
          <a:xfrm>
            <a:off x="5732780" y="3249930"/>
            <a:ext cx="4405630" cy="6362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>
                <a:solidFill>
                  <a:schemeClr val="tx1"/>
                </a:solidFill>
              </a:rPr>
              <a:t>maxpool_v2.v  relu.v SigLUT.v</a:t>
            </a:r>
          </a:p>
        </p:txBody>
      </p:sp>
      <p:sp>
        <p:nvSpPr>
          <p:cNvPr id="11" name="标题 1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367665" y="3249930"/>
            <a:ext cx="1524000" cy="68453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/>
              <a:t>算子级</a:t>
            </a:r>
          </a:p>
        </p:txBody>
      </p:sp>
      <p:sp>
        <p:nvSpPr>
          <p:cNvPr id="14" name="标题 1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7788275" y="2644140"/>
            <a:ext cx="1524000" cy="68453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/>
              <a:t>处理</a:t>
            </a:r>
          </a:p>
        </p:txBody>
      </p:sp>
      <p:sp>
        <p:nvSpPr>
          <p:cNvPr id="15" name="标题 1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0783570" y="2644140"/>
            <a:ext cx="1524000" cy="68453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/>
              <a:t>量化</a:t>
            </a:r>
          </a:p>
        </p:txBody>
      </p:sp>
      <p:sp>
        <p:nvSpPr>
          <p:cNvPr id="16" name="圆角矩形 15"/>
          <p:cNvSpPr/>
          <p:nvPr/>
        </p:nvSpPr>
        <p:spPr>
          <a:xfrm>
            <a:off x="10287635" y="3249930"/>
            <a:ext cx="1831340" cy="6362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>
                <a:solidFill>
                  <a:schemeClr val="tx1"/>
                </a:solidFill>
              </a:rPr>
              <a:t>rescale_*.v</a:t>
            </a:r>
          </a:p>
        </p:txBody>
      </p:sp>
      <p:sp>
        <p:nvSpPr>
          <p:cNvPr id="17" name="标题 1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367665" y="530860"/>
            <a:ext cx="333946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助教代码框架梳理</a:t>
            </a: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92735" y="320040"/>
            <a:ext cx="421957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Conv1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重复计算分析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3"/>
            </p:custDataLst>
          </p:nvPr>
        </p:nvGraphicFramePr>
        <p:xfrm>
          <a:off x="4384040" y="380365"/>
          <a:ext cx="4102100" cy="6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0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3326130" y="3154680"/>
            <a:ext cx="74104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重复</a:t>
            </a:r>
            <a:r>
              <a:rPr lang="en-US" altLang="zh-CN"/>
              <a:t>12</a:t>
            </a:r>
            <a:r>
              <a:rPr lang="zh-CN" altLang="en-US"/>
              <a:t>行</a:t>
            </a:r>
          </a:p>
        </p:txBody>
      </p:sp>
      <p:sp>
        <p:nvSpPr>
          <p:cNvPr id="12" name="左大括号 11"/>
          <p:cNvSpPr/>
          <p:nvPr/>
        </p:nvSpPr>
        <p:spPr>
          <a:xfrm>
            <a:off x="4104005" y="1361440"/>
            <a:ext cx="162560" cy="423164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" name="表格 12"/>
          <p:cNvGraphicFramePr/>
          <p:nvPr>
            <p:custDataLst>
              <p:tags r:id="rId4"/>
            </p:custDataLst>
          </p:nvPr>
        </p:nvGraphicFramePr>
        <p:xfrm>
          <a:off x="8803005" y="1174115"/>
          <a:ext cx="2769235" cy="419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5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8" name="圆角矩形 17"/>
          <p:cNvSpPr/>
          <p:nvPr/>
        </p:nvSpPr>
        <p:spPr>
          <a:xfrm>
            <a:off x="5662930" y="1182370"/>
            <a:ext cx="2748280" cy="4116705"/>
          </a:xfrm>
          <a:prstGeom prst="roundRect">
            <a:avLst/>
          </a:prstGeom>
          <a:noFill/>
          <a:ln w="28575">
            <a:solidFill>
              <a:schemeClr val="accent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rgbClr val="EDE7FE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圆角矩形 18"/>
          <p:cNvSpPr/>
          <p:nvPr/>
        </p:nvSpPr>
        <p:spPr>
          <a:xfrm>
            <a:off x="5227320" y="1182370"/>
            <a:ext cx="2748280" cy="4116705"/>
          </a:xfrm>
          <a:prstGeom prst="round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rgbClr val="EDE7FE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4861560" y="1182370"/>
            <a:ext cx="2748280" cy="4116705"/>
          </a:xfrm>
          <a:prstGeom prst="roundRect">
            <a:avLst/>
          </a:prstGeom>
          <a:noFill/>
          <a:ln w="28575">
            <a:solidFill>
              <a:schemeClr val="accent1">
                <a:lumMod val="40000"/>
                <a:lumOff val="60000"/>
              </a:schemeClr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rgbClr val="EDE7FE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圆角矩形 20"/>
          <p:cNvSpPr/>
          <p:nvPr/>
        </p:nvSpPr>
        <p:spPr>
          <a:xfrm>
            <a:off x="4438015" y="1174115"/>
            <a:ext cx="2748280" cy="4116705"/>
          </a:xfrm>
          <a:prstGeom prst="roundRect">
            <a:avLst/>
          </a:prstGeom>
          <a:noFill/>
          <a:ln w="28575">
            <a:solidFill>
              <a:schemeClr val="accent1">
                <a:lumMod val="20000"/>
                <a:lumOff val="80000"/>
              </a:schemeClr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rgbClr val="EDE7FE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292735" y="854710"/>
            <a:ext cx="3143885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问题：</a:t>
            </a:r>
          </a:p>
          <a:p>
            <a:r>
              <a:rPr lang="en-US" altLang="zh-CN"/>
              <a:t>8/16</a:t>
            </a:r>
            <a:r>
              <a:rPr lang="zh-CN" altLang="en-US"/>
              <a:t>重复</a:t>
            </a:r>
          </a:p>
          <a:p>
            <a:r>
              <a:rPr lang="zh-CN" altLang="en-US"/>
              <a:t>解决：</a:t>
            </a:r>
          </a:p>
          <a:p>
            <a:r>
              <a:rPr lang="en-US" altLang="zh-CN"/>
              <a:t>line buffer</a:t>
            </a:r>
            <a:r>
              <a:rPr lang="zh-CN" altLang="en-US"/>
              <a:t>（老办法，寄存器多）</a:t>
            </a:r>
            <a:endParaRPr lang="en-US" altLang="zh-CN"/>
          </a:p>
          <a:p>
            <a:r>
              <a:rPr lang="zh-CN" altLang="en-US"/>
              <a:t>输出驻留（</a:t>
            </a:r>
            <a:r>
              <a:rPr lang="zh-CN" altLang="en-US">
                <a:sym typeface="+mn-ea"/>
              </a:rPr>
              <a:t>①</a:t>
            </a:r>
            <a:r>
              <a:rPr lang="en-US" altLang="zh-CN"/>
              <a:t>16</a:t>
            </a:r>
            <a:r>
              <a:rPr lang="zh-CN" altLang="en-US"/>
              <a:t>组乘单元编号，让某些号的计算结果留在计算单元里</a:t>
            </a:r>
            <a:r>
              <a:rPr lang="en-US" altLang="zh-CN"/>
              <a:t>——</a:t>
            </a:r>
            <a:r>
              <a:rPr lang="zh-CN" altLang="en-US"/>
              <a:t>下一次直接复用，依赖于乘法单元的位置的对应②</a:t>
            </a:r>
            <a:r>
              <a:rPr lang="en-US" altLang="zh-CN"/>
              <a:t>16</a:t>
            </a:r>
            <a:r>
              <a:rPr lang="zh-CN" altLang="en-US"/>
              <a:t>组乘法单元再分上下两组，下组只在第一次中需要计算）</a:t>
            </a:r>
          </a:p>
          <a:p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827895" y="717550"/>
            <a:ext cx="11690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卷积核</a:t>
            </a:r>
          </a:p>
        </p:txBody>
      </p:sp>
      <p:graphicFrame>
        <p:nvGraphicFramePr>
          <p:cNvPr id="25" name="表格 24"/>
          <p:cNvGraphicFramePr/>
          <p:nvPr>
            <p:custDataLst>
              <p:tags r:id="rId5"/>
            </p:custDataLst>
          </p:nvPr>
        </p:nvGraphicFramePr>
        <p:xfrm>
          <a:off x="113030" y="4325620"/>
          <a:ext cx="175768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文本框 25"/>
          <p:cNvSpPr txBox="1"/>
          <p:nvPr/>
        </p:nvSpPr>
        <p:spPr>
          <a:xfrm>
            <a:off x="1230630" y="5910580"/>
            <a:ext cx="16103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乘法单元</a:t>
            </a:r>
          </a:p>
        </p:txBody>
      </p:sp>
      <p:graphicFrame>
        <p:nvGraphicFramePr>
          <p:cNvPr id="27" name="表格 26"/>
          <p:cNvGraphicFramePr/>
          <p:nvPr>
            <p:custDataLst>
              <p:tags r:id="rId6"/>
            </p:custDataLst>
          </p:nvPr>
        </p:nvGraphicFramePr>
        <p:xfrm>
          <a:off x="2228850" y="4325620"/>
          <a:ext cx="175768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 b="0">
                        <a:solidFill>
                          <a:schemeClr val="dk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 b="0">
                        <a:solidFill>
                          <a:schemeClr val="dk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 b="0">
                        <a:solidFill>
                          <a:schemeClr val="dk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 b="0">
                        <a:solidFill>
                          <a:schemeClr val="dk1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92735" y="320040"/>
            <a:ext cx="421957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Conv1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总线、扇出大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3"/>
            </p:custDataLst>
          </p:nvPr>
        </p:nvGraphicFramePr>
        <p:xfrm>
          <a:off x="4512310" y="670560"/>
          <a:ext cx="4013200" cy="590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3601720" y="3201035"/>
            <a:ext cx="8572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line buffer</a:t>
            </a:r>
          </a:p>
        </p:txBody>
      </p:sp>
      <p:sp>
        <p:nvSpPr>
          <p:cNvPr id="12" name="左大括号 11"/>
          <p:cNvSpPr/>
          <p:nvPr/>
        </p:nvSpPr>
        <p:spPr>
          <a:xfrm>
            <a:off x="4312285" y="859155"/>
            <a:ext cx="156845" cy="5504180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579755" y="874395"/>
            <a:ext cx="2968625" cy="6185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问题：</a:t>
            </a:r>
          </a:p>
          <a:p>
            <a:r>
              <a:rPr lang="zh-CN" altLang="en-US"/>
              <a:t>数据总线大</a:t>
            </a:r>
          </a:p>
          <a:p>
            <a:r>
              <a:rPr lang="zh-CN" altLang="en-US"/>
              <a:t>解决：</a:t>
            </a:r>
          </a:p>
          <a:p>
            <a:r>
              <a:rPr lang="en-US" altLang="zh-CN"/>
              <a:t>line buffer</a:t>
            </a:r>
            <a:r>
              <a:rPr lang="zh-CN" altLang="en-US"/>
              <a:t>（</a:t>
            </a:r>
            <a:r>
              <a:rPr lang="en-US" altLang="zh-CN">
                <a:sym typeface="+mn-ea"/>
              </a:rPr>
              <a:t>16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10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8</a:t>
            </a:r>
            <a:r>
              <a:rPr lang="zh-CN" altLang="en-US">
                <a:sym typeface="+mn-ea"/>
              </a:rPr>
              <a:t>大小</a:t>
            </a:r>
            <a:r>
              <a:rPr lang="en-US" altLang="zh-CN">
                <a:sym typeface="+mn-ea"/>
              </a:rPr>
              <a:t>0.16KB</a:t>
            </a:r>
            <a:r>
              <a:rPr lang="zh-CN" altLang="en-US"/>
              <a:t>）第一次读</a:t>
            </a:r>
            <a:r>
              <a:rPr lang="en-US" altLang="zh-CN"/>
              <a:t>14</a:t>
            </a:r>
            <a:r>
              <a:rPr lang="zh-CN" altLang="en-US"/>
              <a:t>×</a:t>
            </a:r>
            <a:r>
              <a:rPr lang="en-US" altLang="zh-CN"/>
              <a:t>10</a:t>
            </a:r>
            <a:r>
              <a:rPr lang="zh-CN" altLang="en-US"/>
              <a:t>×</a:t>
            </a:r>
            <a:r>
              <a:rPr lang="en-US" altLang="zh-CN"/>
              <a:t>8</a:t>
            </a:r>
            <a:r>
              <a:rPr lang="zh-CN" altLang="en-US"/>
              <a:t>（或者分</a:t>
            </a:r>
            <a:r>
              <a:rPr lang="en-US" altLang="zh-CN"/>
              <a:t>2</a:t>
            </a:r>
            <a:r>
              <a:rPr lang="zh-CN" altLang="en-US"/>
              <a:t>周期读，一次</a:t>
            </a:r>
            <a:r>
              <a:rPr lang="en-US" altLang="zh-CN"/>
              <a:t>560bits</a:t>
            </a:r>
            <a:r>
              <a:rPr lang="zh-CN" altLang="en-US"/>
              <a:t>），后面八次读进来后两行再换序（整体往上挪</a:t>
            </a:r>
            <a:r>
              <a:rPr lang="en-US" altLang="zh-CN"/>
              <a:t>2</a:t>
            </a:r>
            <a:r>
              <a:rPr lang="zh-CN" altLang="en-US"/>
              <a:t>），这样读的数少了，总线降下来了。（需要换序，不然太乱了，但是换序需要一个周期？每张图多一个周期？考虑并在流水里的话</a:t>
            </a:r>
            <a:r>
              <a:rPr lang="zh-CN" altLang="en-US">
                <a:sym typeface="+mn-ea"/>
              </a:rPr>
              <a:t>这两个周期可以省去</a:t>
            </a:r>
            <a:r>
              <a:rPr lang="zh-CN" altLang="en-US"/>
              <a:t>（比如第一张图的后两个周期开始读后两行</a:t>
            </a:r>
            <a:r>
              <a:rPr lang="en-US" altLang="zh-CN"/>
              <a:t>+</a:t>
            </a:r>
            <a:r>
              <a:rPr lang="zh-CN" altLang="en-US"/>
              <a:t>换序））</a:t>
            </a:r>
          </a:p>
          <a:p>
            <a:r>
              <a:rPr lang="zh-CN" altLang="en-US"/>
              <a:t>原方案为</a:t>
            </a:r>
            <a:r>
              <a:rPr lang="en-US" altLang="zh-CN"/>
              <a:t>9</a:t>
            </a:r>
            <a:r>
              <a:rPr lang="zh-CN" altLang="en-US"/>
              <a:t>个</a:t>
            </a:r>
            <a:r>
              <a:rPr lang="en-US" altLang="zh-CN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1×14×10</a:t>
            </a:r>
            <a:r>
              <a:rPr lang="zh-CN" altLang="en-US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串行，改位流水，如右图。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是否考虑品乓缓存</a:t>
            </a:r>
            <a:r>
              <a:rPr lang="en-US" altLang="zh-CN"/>
              <a:t>/</a:t>
            </a:r>
            <a:r>
              <a:rPr lang="zh-CN" altLang="en-US"/>
              <a:t>第二张图在第二个周期开始读</a:t>
            </a:r>
          </a:p>
          <a:p>
            <a:endParaRPr lang="en-US" altLang="zh-CN"/>
          </a:p>
        </p:txBody>
      </p:sp>
      <p:sp>
        <p:nvSpPr>
          <p:cNvPr id="36" name="立方体 35"/>
          <p:cNvSpPr/>
          <p:nvPr/>
        </p:nvSpPr>
        <p:spPr>
          <a:xfrm>
            <a:off x="9324340" y="1659255"/>
            <a:ext cx="1312545" cy="4109720"/>
          </a:xfrm>
          <a:prstGeom prst="cub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9662795" y="5768975"/>
            <a:ext cx="857250" cy="4254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/>
              <a:t>1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8977630" y="3477895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9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9110345" y="1535430"/>
            <a:ext cx="9791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32</a:t>
            </a:r>
          </a:p>
          <a:p>
            <a:endParaRPr lang="en-US" altLang="zh-CN"/>
          </a:p>
        </p:txBody>
      </p:sp>
      <p:sp>
        <p:nvSpPr>
          <p:cNvPr id="40" name="立方体 39"/>
          <p:cNvSpPr/>
          <p:nvPr/>
        </p:nvSpPr>
        <p:spPr>
          <a:xfrm>
            <a:off x="9324340" y="1883410"/>
            <a:ext cx="1090295" cy="407035"/>
          </a:xfrm>
          <a:prstGeom prst="cub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9627870" y="222123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</a:t>
            </a:r>
          </a:p>
        </p:txBody>
      </p:sp>
      <p:sp>
        <p:nvSpPr>
          <p:cNvPr id="42" name="文本框 41"/>
          <p:cNvSpPr txBox="1"/>
          <p:nvPr/>
        </p:nvSpPr>
        <p:spPr>
          <a:xfrm>
            <a:off x="9022715" y="197485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</a:t>
            </a:r>
          </a:p>
        </p:txBody>
      </p:sp>
      <p:sp>
        <p:nvSpPr>
          <p:cNvPr id="43" name="文本框 42"/>
          <p:cNvSpPr txBox="1"/>
          <p:nvPr/>
        </p:nvSpPr>
        <p:spPr>
          <a:xfrm>
            <a:off x="10252075" y="2164080"/>
            <a:ext cx="857250" cy="4254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/>
              <a:t>4</a:t>
            </a:r>
          </a:p>
        </p:txBody>
      </p:sp>
      <p:sp>
        <p:nvSpPr>
          <p:cNvPr id="44" name="文本框 43"/>
          <p:cNvSpPr txBox="1"/>
          <p:nvPr/>
        </p:nvSpPr>
        <p:spPr>
          <a:xfrm>
            <a:off x="8977630" y="607060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ym typeface="+mn-ea"/>
              </a:rPr>
              <a:t>32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9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➗</a:t>
            </a:r>
            <a:r>
              <a:rPr lang="en-US" altLang="zh-CN">
                <a:sym typeface="+mn-ea"/>
              </a:rPr>
              <a:t> 4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1=72</a:t>
            </a:r>
            <a:r>
              <a:rPr lang="zh-CN" altLang="en-US">
                <a:sym typeface="+mn-ea"/>
              </a:rPr>
              <a:t>周期</a:t>
            </a: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92735" y="320040"/>
            <a:ext cx="421957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Conv1 77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个乘累加的三级流水计算量不匹配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05105" y="2189480"/>
            <a:ext cx="3902710" cy="51631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/>
              <a:t>问题：</a:t>
            </a:r>
          </a:p>
          <a:p>
            <a:r>
              <a:rPr lang="zh-CN" altLang="en-US" sz="2000"/>
              <a:t>第一级</a:t>
            </a:r>
            <a:r>
              <a:rPr lang="en-US" altLang="zh-CN" sz="2000"/>
              <a:t> 7</a:t>
            </a:r>
            <a:r>
              <a:rPr lang="zh-CN" altLang="en-US" sz="2000"/>
              <a:t>个</a:t>
            </a:r>
            <a:r>
              <a:rPr lang="en-US" altLang="zh-CN" sz="2000"/>
              <a:t>8bit</a:t>
            </a:r>
            <a:r>
              <a:rPr lang="zh-CN" altLang="en-US" sz="2000"/>
              <a:t>累加</a:t>
            </a:r>
          </a:p>
          <a:p>
            <a:r>
              <a:rPr lang="zh-CN" altLang="en-US" sz="2000"/>
              <a:t>第二级</a:t>
            </a:r>
            <a:r>
              <a:rPr lang="en-US" altLang="zh-CN" sz="2000"/>
              <a:t> </a:t>
            </a:r>
            <a:r>
              <a:rPr lang="zh-CN" altLang="en-US" sz="2000"/>
              <a:t>六组</a:t>
            </a:r>
            <a:r>
              <a:rPr lang="en-US" altLang="zh-CN" sz="2000"/>
              <a:t>2</a:t>
            </a:r>
            <a:r>
              <a:rPr lang="zh-CN" altLang="en-US" sz="2000"/>
              <a:t>个</a:t>
            </a:r>
            <a:r>
              <a:rPr lang="en-US" altLang="zh-CN" sz="2000"/>
              <a:t>32bit</a:t>
            </a:r>
            <a:r>
              <a:rPr lang="zh-CN" altLang="en-US" sz="2000"/>
              <a:t>加</a:t>
            </a:r>
          </a:p>
          <a:p>
            <a:r>
              <a:rPr lang="zh-CN" altLang="en-US" sz="2000"/>
              <a:t>第三级</a:t>
            </a:r>
            <a:r>
              <a:rPr lang="en-US" altLang="zh-CN" sz="2000"/>
              <a:t> </a:t>
            </a:r>
            <a:r>
              <a:rPr lang="zh-CN" altLang="en-US" sz="2000"/>
              <a:t>一组</a:t>
            </a:r>
            <a:r>
              <a:rPr lang="en-US" altLang="zh-CN" sz="2000"/>
              <a:t>6</a:t>
            </a:r>
            <a:r>
              <a:rPr lang="zh-CN" altLang="en-US" sz="2000"/>
              <a:t>个</a:t>
            </a:r>
            <a:r>
              <a:rPr lang="en-US" altLang="zh-CN" sz="2000"/>
              <a:t>32bit</a:t>
            </a:r>
            <a:r>
              <a:rPr lang="zh-CN" altLang="en-US" sz="2000"/>
              <a:t>加</a:t>
            </a:r>
          </a:p>
          <a:p>
            <a:r>
              <a:rPr lang="zh-CN" altLang="en-US" sz="2000"/>
              <a:t>解决：</a:t>
            </a:r>
          </a:p>
          <a:p>
            <a:r>
              <a:rPr lang="zh-CN" altLang="en-US" sz="2000"/>
              <a:t>两层并行</a:t>
            </a:r>
            <a:r>
              <a:rPr lang="en-US" altLang="zh-CN" sz="2000"/>
              <a:t>CSA+</a:t>
            </a:r>
            <a:r>
              <a:rPr lang="zh-CN" altLang="en-US" sz="2000"/>
              <a:t>一次</a:t>
            </a:r>
            <a:r>
              <a:rPr lang="en-US" altLang="zh-CN" sz="2000"/>
              <a:t>CPA</a:t>
            </a:r>
          </a:p>
          <a:p>
            <a:r>
              <a:rPr lang="en-US" altLang="zh-CN" sz="2000"/>
              <a:t>CSA</a:t>
            </a:r>
            <a:r>
              <a:rPr lang="zh-CN" altLang="en-US" sz="2000"/>
              <a:t>让传播进位只发生一次</a:t>
            </a:r>
          </a:p>
          <a:p>
            <a:endParaRPr lang="zh-CN" altLang="en-US" sz="2000"/>
          </a:p>
          <a:p>
            <a:r>
              <a:rPr lang="en-US" altLang="zh-CN" sz="2000"/>
              <a:t>sign-extend</a:t>
            </a:r>
            <a:r>
              <a:rPr lang="zh-CN" altLang="en-US" sz="2000"/>
              <a:t>的意义（需要吗）</a:t>
            </a:r>
          </a:p>
          <a:p>
            <a:r>
              <a:rPr lang="zh-CN" altLang="en-US" sz="2000"/>
              <a:t>保证符号位</a:t>
            </a:r>
          </a:p>
          <a:p>
            <a:r>
              <a:rPr lang="zh-CN" altLang="en-US" sz="2000"/>
              <a:t>不会溢出</a:t>
            </a:r>
          </a:p>
          <a:p>
            <a:endParaRPr lang="zh-CN" altLang="en-US" sz="2000"/>
          </a:p>
          <a:p>
            <a:endParaRPr lang="zh-CN" altLang="en-US" sz="2000"/>
          </a:p>
        </p:txBody>
      </p:sp>
      <p:cxnSp>
        <p:nvCxnSpPr>
          <p:cNvPr id="3" name="直接连接符 2"/>
          <p:cNvCxnSpPr/>
          <p:nvPr/>
        </p:nvCxnSpPr>
        <p:spPr>
          <a:xfrm>
            <a:off x="4492950" y="19161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>
            <a:off x="4492950" y="19328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321435" y="19161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5321814" y="2503781"/>
            <a:ext cx="828040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6150299" y="19161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6150299" y="19328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6978784" y="19161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6974402" y="2506722"/>
            <a:ext cx="828040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7802887" y="19191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7802887" y="19357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8631372" y="19191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8636514" y="2500840"/>
            <a:ext cx="828040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矩形 62"/>
          <p:cNvSpPr/>
          <p:nvPr/>
        </p:nvSpPr>
        <p:spPr>
          <a:xfrm>
            <a:off x="4565386" y="180368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6188622" y="802283"/>
            <a:ext cx="1756716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8+8+7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（含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CSA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求和</a:t>
            </a:r>
          </a:p>
        </p:txBody>
      </p:sp>
      <p:sp>
        <p:nvSpPr>
          <p:cNvPr id="65" name="文本框 64"/>
          <p:cNvSpPr txBox="1"/>
          <p:nvPr/>
        </p:nvSpPr>
        <p:spPr>
          <a:xfrm>
            <a:off x="7912022" y="801849"/>
            <a:ext cx="1756716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32bit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数求和，再进行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CPA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求和</a:t>
            </a:r>
          </a:p>
        </p:txBody>
      </p:sp>
      <p:sp>
        <p:nvSpPr>
          <p:cNvPr id="66" name="矩形 65"/>
          <p:cNvSpPr/>
          <p:nvPr/>
        </p:nvSpPr>
        <p:spPr>
          <a:xfrm>
            <a:off x="6239274" y="177721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7881277" y="177721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4431906" y="-37588"/>
            <a:ext cx="1756716" cy="181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8bit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乘法结果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sign‑extend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32bit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CSA Tree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做压缩，把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个数压到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“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部分和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”sum&amp;carry</a:t>
            </a:r>
          </a:p>
        </p:txBody>
      </p:sp>
      <p:graphicFrame>
        <p:nvGraphicFramePr>
          <p:cNvPr id="32" name="表格 31"/>
          <p:cNvGraphicFramePr/>
          <p:nvPr/>
        </p:nvGraphicFramePr>
        <p:xfrm>
          <a:off x="4331335" y="2554605"/>
          <a:ext cx="2809240" cy="40582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4" name="右箭头 33"/>
          <p:cNvSpPr/>
          <p:nvPr/>
        </p:nvSpPr>
        <p:spPr>
          <a:xfrm>
            <a:off x="7228840" y="270065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7506970" y="256984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45" name="右箭头 44"/>
          <p:cNvSpPr/>
          <p:nvPr/>
        </p:nvSpPr>
        <p:spPr>
          <a:xfrm>
            <a:off x="7235825" y="3037840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文本框 45"/>
          <p:cNvSpPr txBox="1"/>
          <p:nvPr/>
        </p:nvSpPr>
        <p:spPr>
          <a:xfrm>
            <a:off x="7513955" y="290703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47" name="右箭头 46"/>
          <p:cNvSpPr/>
          <p:nvPr/>
        </p:nvSpPr>
        <p:spPr>
          <a:xfrm>
            <a:off x="7228840" y="346265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7506970" y="333184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49" name="右箭头 48"/>
          <p:cNvSpPr/>
          <p:nvPr/>
        </p:nvSpPr>
        <p:spPr>
          <a:xfrm>
            <a:off x="7235825" y="3799840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7513955" y="366903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51" name="右箭头 50"/>
          <p:cNvSpPr/>
          <p:nvPr/>
        </p:nvSpPr>
        <p:spPr>
          <a:xfrm>
            <a:off x="7228840" y="416242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/>
          <p:cNvSpPr txBox="1"/>
          <p:nvPr/>
        </p:nvSpPr>
        <p:spPr>
          <a:xfrm>
            <a:off x="7506970" y="403161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53" name="右箭头 52"/>
          <p:cNvSpPr/>
          <p:nvPr/>
        </p:nvSpPr>
        <p:spPr>
          <a:xfrm>
            <a:off x="7235825" y="4499610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/>
        </p:nvSpPr>
        <p:spPr>
          <a:xfrm>
            <a:off x="7513955" y="436880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55" name="右箭头 54"/>
          <p:cNvSpPr/>
          <p:nvPr/>
        </p:nvSpPr>
        <p:spPr>
          <a:xfrm>
            <a:off x="7228840" y="492442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/>
          <p:cNvSpPr txBox="1"/>
          <p:nvPr/>
        </p:nvSpPr>
        <p:spPr>
          <a:xfrm>
            <a:off x="7506970" y="479361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57" name="右箭头 56"/>
          <p:cNvSpPr/>
          <p:nvPr/>
        </p:nvSpPr>
        <p:spPr>
          <a:xfrm>
            <a:off x="7235825" y="5261610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7513955" y="513080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59" name="右箭头 58"/>
          <p:cNvSpPr/>
          <p:nvPr/>
        </p:nvSpPr>
        <p:spPr>
          <a:xfrm>
            <a:off x="7235825" y="559879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7513955" y="546798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61" name="右箭头 60"/>
          <p:cNvSpPr/>
          <p:nvPr/>
        </p:nvSpPr>
        <p:spPr>
          <a:xfrm>
            <a:off x="7242810" y="5935980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7520940" y="580517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72" name="右箭头 71"/>
          <p:cNvSpPr/>
          <p:nvPr/>
        </p:nvSpPr>
        <p:spPr>
          <a:xfrm>
            <a:off x="7235825" y="636079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/>
          <p:cNvSpPr txBox="1"/>
          <p:nvPr/>
        </p:nvSpPr>
        <p:spPr>
          <a:xfrm>
            <a:off x="7513955" y="622998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7758430" y="656717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bias</a:t>
            </a:r>
          </a:p>
        </p:txBody>
      </p:sp>
      <p:sp>
        <p:nvSpPr>
          <p:cNvPr id="77" name="右大括号 76"/>
          <p:cNvSpPr/>
          <p:nvPr/>
        </p:nvSpPr>
        <p:spPr>
          <a:xfrm>
            <a:off x="8586470" y="2720975"/>
            <a:ext cx="209550" cy="11912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右大括号 77"/>
          <p:cNvSpPr/>
          <p:nvPr/>
        </p:nvSpPr>
        <p:spPr>
          <a:xfrm>
            <a:off x="8586470" y="4162425"/>
            <a:ext cx="209550" cy="11912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右大括号 78"/>
          <p:cNvSpPr/>
          <p:nvPr/>
        </p:nvSpPr>
        <p:spPr>
          <a:xfrm>
            <a:off x="8586470" y="5674360"/>
            <a:ext cx="209550" cy="11912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文本框 79"/>
          <p:cNvSpPr txBox="1"/>
          <p:nvPr/>
        </p:nvSpPr>
        <p:spPr>
          <a:xfrm>
            <a:off x="8850630" y="311340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81" name="文本框 80"/>
          <p:cNvSpPr txBox="1"/>
          <p:nvPr/>
        </p:nvSpPr>
        <p:spPr>
          <a:xfrm>
            <a:off x="8850630" y="457517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82" name="文本框 81"/>
          <p:cNvSpPr txBox="1"/>
          <p:nvPr/>
        </p:nvSpPr>
        <p:spPr>
          <a:xfrm>
            <a:off x="8850630" y="609917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83" name="右大括号 82"/>
          <p:cNvSpPr/>
          <p:nvPr/>
        </p:nvSpPr>
        <p:spPr>
          <a:xfrm>
            <a:off x="9989820" y="3244215"/>
            <a:ext cx="209550" cy="30530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文本框 83"/>
          <p:cNvSpPr txBox="1"/>
          <p:nvPr/>
        </p:nvSpPr>
        <p:spPr>
          <a:xfrm>
            <a:off x="10415270" y="4839335"/>
            <a:ext cx="205486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sum&amp;carry-&gt;CPA</a:t>
            </a: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92735" y="320040"/>
            <a:ext cx="421957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Conv1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问题</a:t>
            </a:r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1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579755" y="874395"/>
            <a:ext cx="2968625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问题：</a:t>
            </a:r>
          </a:p>
          <a:p>
            <a:r>
              <a:rPr lang="zh-CN" altLang="en-US"/>
              <a:t>构架先将一张特征图</a:t>
            </a:r>
            <a:r>
              <a:rPr lang="en-US" altLang="zh-CN"/>
              <a:t>30</a:t>
            </a:r>
            <a:r>
              <a:rPr lang="en-US" altLang="en-US"/>
              <a:t>×</a:t>
            </a:r>
            <a:r>
              <a:rPr lang="en-US" altLang="zh-CN"/>
              <a:t>10</a:t>
            </a:r>
            <a:r>
              <a:rPr lang="en-US" altLang="en-US"/>
              <a:t>×</a:t>
            </a:r>
            <a:r>
              <a:rPr lang="en-US" altLang="zh-CN"/>
              <a:t>8</a:t>
            </a:r>
            <a:r>
              <a:rPr lang="zh-CN" altLang="en-US"/>
              <a:t>的数据存入寄存器，再由</a:t>
            </a:r>
            <a:r>
              <a:rPr lang="en-US" altLang="zh-CN"/>
              <a:t>pos</a:t>
            </a:r>
            <a:r>
              <a:rPr lang="zh-CN" altLang="en-US"/>
              <a:t>指路截取</a:t>
            </a:r>
            <a:r>
              <a:rPr lang="en-US" altLang="zh-CN"/>
              <a:t>14</a:t>
            </a:r>
            <a:r>
              <a:rPr lang="en-US" altLang="en-US"/>
              <a:t>×</a:t>
            </a:r>
            <a:r>
              <a:rPr lang="en-US" altLang="zh-CN"/>
              <a:t>10</a:t>
            </a:r>
            <a:r>
              <a:rPr lang="en-US" altLang="en-US"/>
              <a:t>×</a:t>
            </a:r>
            <a:r>
              <a:rPr lang="en-US" altLang="zh-CN"/>
              <a:t>8</a:t>
            </a:r>
            <a:r>
              <a:rPr lang="zh-CN" altLang="en-US"/>
              <a:t>的数据以及卷积核</a:t>
            </a:r>
            <a:r>
              <a:rPr lang="en-US" altLang="zh-CN"/>
              <a:t>11</a:t>
            </a:r>
            <a:r>
              <a:rPr lang="en-US" altLang="en-US"/>
              <a:t>×</a:t>
            </a:r>
            <a:r>
              <a:rPr lang="en-US" altLang="zh-CN"/>
              <a:t>7</a:t>
            </a:r>
            <a:r>
              <a:rPr lang="en-US" altLang="en-US"/>
              <a:t>×</a:t>
            </a:r>
            <a:r>
              <a:rPr lang="en-US" altLang="zh-CN"/>
              <a:t>8</a:t>
            </a:r>
            <a:r>
              <a:rPr lang="zh-CN" altLang="en-US"/>
              <a:t>的数据送入</a:t>
            </a:r>
            <a:r>
              <a:rPr lang="en-US" altLang="zh-CN"/>
              <a:t>64</a:t>
            </a:r>
            <a:r>
              <a:rPr lang="zh-CN" altLang="en-US"/>
              <a:t>（</a:t>
            </a:r>
            <a:r>
              <a:rPr lang="en-US" altLang="zh-CN"/>
              <a:t>ch(4) x oy(4) x ox(4)</a:t>
            </a:r>
            <a:r>
              <a:rPr lang="zh-CN" altLang="en-US"/>
              <a:t>）个计算单元中对应的计算单元，这个过程涉及到大量的布局布线，会占用大量的面积</a:t>
            </a:r>
          </a:p>
          <a:p>
            <a:endParaRPr lang="zh-CN" altLang="en-US"/>
          </a:p>
          <a:p>
            <a:r>
              <a:rPr lang="zh-CN" altLang="en-US"/>
              <a:t>加一级流水寄存器，通过分段</a:t>
            </a:r>
            <a:r>
              <a:rPr lang="en-US" altLang="zh-CN"/>
              <a:t>——</a:t>
            </a:r>
            <a:r>
              <a:rPr lang="zh-CN" altLang="en-US"/>
              <a:t>总线，寄存器，</a:t>
            </a:r>
            <a:r>
              <a:rPr lang="en-US" altLang="zh-CN"/>
              <a:t>11</a:t>
            </a:r>
            <a:r>
              <a:rPr lang="zh-CN" altLang="en-US"/>
              <a:t>个乘加，短线简单长线难</a:t>
            </a:r>
          </a:p>
          <a:p>
            <a:endParaRPr lang="zh-CN" altLang="en-US"/>
          </a:p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92735" y="320040"/>
            <a:ext cx="421957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Conv1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问题</a:t>
            </a:r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2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579755" y="874395"/>
            <a:ext cx="296862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问题：</a:t>
            </a:r>
          </a:p>
          <a:p>
            <a:r>
              <a:rPr lang="zh-CN" altLang="en-US"/>
              <a:t>输入</a:t>
            </a:r>
            <a:r>
              <a:rPr lang="en-US" altLang="zh-CN"/>
              <a:t>30</a:t>
            </a:r>
            <a:r>
              <a:rPr lang="zh-CN" altLang="en-US"/>
              <a:t>×</a:t>
            </a:r>
            <a:r>
              <a:rPr lang="en-US" altLang="zh-CN"/>
              <a:t>10</a:t>
            </a:r>
            <a:r>
              <a:rPr lang="zh-CN" altLang="en-US"/>
              <a:t>×</a:t>
            </a:r>
            <a:r>
              <a:rPr lang="en-US" altLang="zh-CN"/>
              <a:t>8bit</a:t>
            </a:r>
            <a:r>
              <a:rPr lang="zh-CN" altLang="en-US"/>
              <a:t>太大了，目前：两份整帧双缓冲</a:t>
            </a:r>
            <a:r>
              <a:rPr lang="en-US" altLang="zh-CN"/>
              <a:t> cache frame_cache0 </a:t>
            </a:r>
            <a:r>
              <a:rPr lang="zh-CN" altLang="en-US"/>
              <a:t>和</a:t>
            </a:r>
            <a:r>
              <a:rPr lang="en-US" altLang="zh-CN"/>
              <a:t> frame_cache1</a:t>
            </a:r>
            <a:r>
              <a:rPr lang="zh-CN" altLang="en-US"/>
              <a:t>（一行</a:t>
            </a:r>
            <a:r>
              <a:rPr lang="en-US" altLang="zh-CN"/>
              <a:t>80bit</a:t>
            </a:r>
            <a:r>
              <a:rPr lang="zh-CN" altLang="en-US"/>
              <a:t>按照乒乓缓存输入），它们分别对应系统语义上的：</a:t>
            </a:r>
            <a:r>
              <a:rPr lang="en-US" altLang="zh-CN"/>
              <a:t>ping</a:t>
            </a:r>
            <a:r>
              <a:rPr lang="zh-CN" altLang="en-US"/>
              <a:t>和</a:t>
            </a:r>
            <a:r>
              <a:rPr lang="en-US" altLang="zh-CN"/>
              <a:t>pong</a:t>
            </a:r>
          </a:p>
          <a:p>
            <a:r>
              <a:rPr lang="zh-CN" altLang="en-US"/>
              <a:t>解决：</a:t>
            </a:r>
          </a:p>
          <a:p>
            <a:r>
              <a:rPr lang="zh-CN" altLang="en-US"/>
              <a:t>再慢可以再加流水输入</a:t>
            </a: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待做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写</a:t>
            </a:r>
            <a:r>
              <a:rPr lang="en-US" altLang="zh-CN"/>
              <a:t>CNN_chip.v</a:t>
            </a:r>
            <a:r>
              <a:rPr lang="zh-CN" altLang="en-US"/>
              <a:t>例化接口（</a:t>
            </a:r>
            <a:r>
              <a:rPr lang="en-US" altLang="zh-CN"/>
              <a:t>pad</a:t>
            </a:r>
            <a:r>
              <a:rPr lang="zh-CN" altLang="en-US"/>
              <a:t>）</a:t>
            </a: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圆角矩形 32"/>
          <p:cNvSpPr/>
          <p:nvPr/>
        </p:nvSpPr>
        <p:spPr>
          <a:xfrm>
            <a:off x="4251325" y="4404995"/>
            <a:ext cx="5342890" cy="120713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80365" y="320040"/>
            <a:ext cx="534606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PWconv_conv_core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分析</a:t>
            </a:r>
          </a:p>
        </p:txBody>
      </p:sp>
      <p:cxnSp>
        <p:nvCxnSpPr>
          <p:cNvPr id="3" name="直接连接符 2"/>
          <p:cNvCxnSpPr/>
          <p:nvPr>
            <p:custDataLst>
              <p:tags r:id="rId3"/>
            </p:custDataLst>
          </p:nvPr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>
            <p:custDataLst>
              <p:tags r:id="rId4"/>
            </p:custDataLst>
          </p:nvPr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>
            <p:custDataLst>
              <p:tags r:id="rId5"/>
            </p:custDataLst>
          </p:nvPr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接连接符 1"/>
          <p:cNvCxnSpPr/>
          <p:nvPr>
            <p:custDataLst>
              <p:tags r:id="rId6"/>
            </p:custDataLst>
          </p:nvPr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/>
          <p:cNvCxnSpPr/>
          <p:nvPr>
            <p:custDataLst>
              <p:tags r:id="rId7"/>
            </p:custDataLst>
          </p:nvPr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>
            <p:custDataLst>
              <p:tags r:id="rId8"/>
            </p:custDataLst>
          </p:nvPr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>
            <p:custDataLst>
              <p:tags r:id="rId9"/>
            </p:custDataLst>
          </p:nvPr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>
            <p:custDataLst>
              <p:tags r:id="rId10"/>
            </p:custDataLst>
          </p:nvPr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>
            <p:custDataLst>
              <p:tags r:id="rId11"/>
            </p:custDataLst>
          </p:nvPr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>
            <p:custDataLst>
              <p:tags r:id="rId12"/>
            </p:custDataLst>
          </p:nvPr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>
            <p:custDataLst>
              <p:tags r:id="rId13"/>
            </p:custDataLst>
          </p:nvPr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>
            <p:custDataLst>
              <p:tags r:id="rId14"/>
            </p:custDataLst>
          </p:nvPr>
        </p:nvSpPr>
        <p:spPr>
          <a:xfrm>
            <a:off x="489585" y="3122930"/>
            <a:ext cx="2251710" cy="3011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recv_count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 stage0_valid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stage0_last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in_stream_ready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input_fire = 1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文本框 10"/>
          <p:cNvSpPr txBox="1"/>
          <p:nvPr>
            <p:custDataLst>
              <p:tags r:id="rId15"/>
            </p:custDataLst>
          </p:nvPr>
        </p:nvSpPr>
        <p:spPr>
          <a:xfrm>
            <a:off x="485140" y="2348230"/>
            <a:ext cx="2251710" cy="612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 = 1</a:t>
            </a:r>
            <a:r>
              <a:rPr lang="zh-CN" altLang="en-US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开始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in_stream_valid = 1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556000" y="3337560"/>
            <a:ext cx="5080000" cy="18288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ts val="715"/>
              </a:lnSpc>
            </a:pPr>
            <a:r>
              <a:rPr lang="en-US" altLang="zh-CN" sz="1600" b="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in_stream_valid</a:t>
            </a:r>
          </a:p>
        </p:txBody>
      </p:sp>
      <p:sp>
        <p:nvSpPr>
          <p:cNvPr id="26" name="文本框 25"/>
          <p:cNvSpPr txBox="1"/>
          <p:nvPr>
            <p:custDataLst>
              <p:tags r:id="rId16"/>
            </p:custDataLst>
          </p:nvPr>
        </p:nvSpPr>
        <p:spPr>
          <a:xfrm>
            <a:off x="3399155" y="2348230"/>
            <a:ext cx="2573020" cy="19177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recv_count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loaded_pos_count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issue_fire = 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（有库存且总发射小于总数）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6058535" y="2395220"/>
            <a:ext cx="1639570" cy="15100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stage0_valid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issue_count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issue_group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 issue_pos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由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issue_count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计算得到</a:t>
            </a:r>
          </a:p>
        </p:txBody>
      </p:sp>
      <p:cxnSp>
        <p:nvCxnSpPr>
          <p:cNvPr id="31" name="直接连接符 30"/>
          <p:cNvCxnSpPr/>
          <p:nvPr>
            <p:custDataLst>
              <p:tags r:id="rId17"/>
            </p:custDataLst>
          </p:nvPr>
        </p:nvCxnSpPr>
        <p:spPr>
          <a:xfrm>
            <a:off x="6599248" y="14044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/>
          <p:cNvSpPr txBox="1"/>
          <p:nvPr/>
        </p:nvSpPr>
        <p:spPr>
          <a:xfrm>
            <a:off x="4465320" y="4593907"/>
            <a:ext cx="5080000" cy="82994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——</a:t>
            </a: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发射至</a:t>
            </a: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的时机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 = busy &amp;&amp; (issue_count &lt; TOKEN_COUNT) &amp;&amp; (issue_pos &lt; loaded_pos_count)</a:t>
            </a:r>
          </a:p>
        </p:txBody>
      </p:sp>
      <p:sp>
        <p:nvSpPr>
          <p:cNvPr id="34" name="文本框 33"/>
          <p:cNvSpPr txBox="1"/>
          <p:nvPr/>
        </p:nvSpPr>
        <p:spPr>
          <a:xfrm>
            <a:off x="4810125" y="5685472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仓库有多余</a:t>
            </a:r>
            <a:r>
              <a:rPr lang="en-US" altLang="zh-CN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级为发射且总发射</a:t>
            </a:r>
            <a:r>
              <a:rPr lang="en-US" altLang="zh-CN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未满</a:t>
            </a: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56565" y="154305"/>
            <a:ext cx="534606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PWconv_param_store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分析</a:t>
            </a:r>
          </a:p>
        </p:txBody>
      </p:sp>
      <p:graphicFrame>
        <p:nvGraphicFramePr>
          <p:cNvPr id="9" name="表格 8"/>
          <p:cNvGraphicFramePr/>
          <p:nvPr>
            <p:custDataLst>
              <p:tags r:id="rId3"/>
            </p:custDataLst>
          </p:nvPr>
        </p:nvGraphicFramePr>
        <p:xfrm>
          <a:off x="1376680" y="1243965"/>
          <a:ext cx="44577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57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5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3152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2" name="文本框 11"/>
          <p:cNvSpPr txBox="1"/>
          <p:nvPr>
            <p:custDataLst>
              <p:tags r:id="rId4"/>
            </p:custDataLst>
          </p:nvPr>
        </p:nvSpPr>
        <p:spPr>
          <a:xfrm>
            <a:off x="1555750" y="776605"/>
            <a:ext cx="222377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bank0:4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输入通道</a:t>
            </a:r>
          </a:p>
        </p:txBody>
      </p:sp>
      <p:sp>
        <p:nvSpPr>
          <p:cNvPr id="13" name="左大括号 12"/>
          <p:cNvSpPr/>
          <p:nvPr/>
        </p:nvSpPr>
        <p:spPr>
          <a:xfrm rot="5400000">
            <a:off x="2244725" y="432435"/>
            <a:ext cx="114300" cy="1492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左大括号 21"/>
          <p:cNvSpPr/>
          <p:nvPr/>
        </p:nvSpPr>
        <p:spPr>
          <a:xfrm>
            <a:off x="1262380" y="1243965"/>
            <a:ext cx="114300" cy="1492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5"/>
            </p:custDataLst>
          </p:nvPr>
        </p:nvSpPr>
        <p:spPr>
          <a:xfrm>
            <a:off x="236220" y="1637030"/>
            <a:ext cx="1206500" cy="8210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addr0: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输出通道</a:t>
            </a:r>
          </a:p>
        </p:txBody>
      </p:sp>
      <p:sp>
        <p:nvSpPr>
          <p:cNvPr id="36" name="左大括号 35"/>
          <p:cNvSpPr/>
          <p:nvPr/>
        </p:nvSpPr>
        <p:spPr>
          <a:xfrm rot="10800000">
            <a:off x="5944870" y="1351280"/>
            <a:ext cx="76200" cy="4905375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6"/>
            </p:custDataLst>
          </p:nvPr>
        </p:nvSpPr>
        <p:spPr>
          <a:xfrm>
            <a:off x="6065520" y="3631565"/>
            <a:ext cx="2223770" cy="5905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0~7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depth=8</a:t>
            </a:r>
          </a:p>
        </p:txBody>
      </p:sp>
      <p:sp>
        <p:nvSpPr>
          <p:cNvPr id="38" name="左大括号 37"/>
          <p:cNvSpPr/>
          <p:nvPr/>
        </p:nvSpPr>
        <p:spPr>
          <a:xfrm rot="16200000">
            <a:off x="3546475" y="4276090"/>
            <a:ext cx="90170" cy="443039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>
            <p:custDataLst>
              <p:tags r:id="rId7"/>
            </p:custDataLst>
          </p:nvPr>
        </p:nvSpPr>
        <p:spPr>
          <a:xfrm>
            <a:off x="2724150" y="6529070"/>
            <a:ext cx="222377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0~7 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0" name="圆角矩形 39"/>
          <p:cNvSpPr/>
          <p:nvPr/>
        </p:nvSpPr>
        <p:spPr>
          <a:xfrm>
            <a:off x="1442720" y="1308100"/>
            <a:ext cx="1671955" cy="1329690"/>
          </a:xfrm>
          <a:prstGeom prst="roundRect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lg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右箭头 40"/>
          <p:cNvSpPr/>
          <p:nvPr/>
        </p:nvSpPr>
        <p:spPr>
          <a:xfrm>
            <a:off x="3312795" y="1955165"/>
            <a:ext cx="3819525" cy="22352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3" name="表格 42"/>
          <p:cNvGraphicFramePr/>
          <p:nvPr>
            <p:custDataLst>
              <p:tags r:id="rId8"/>
            </p:custDataLst>
          </p:nvPr>
        </p:nvGraphicFramePr>
        <p:xfrm>
          <a:off x="7252970" y="1833245"/>
          <a:ext cx="1125220" cy="413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5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4" name="文本框 43"/>
          <p:cNvSpPr txBox="1"/>
          <p:nvPr>
            <p:custDataLst>
              <p:tags r:id="rId9"/>
            </p:custDataLst>
          </p:nvPr>
        </p:nvSpPr>
        <p:spPr>
          <a:xfrm>
            <a:off x="7442200" y="148780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bank0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/>
          <p:cNvSpPr txBox="1"/>
          <p:nvPr>
            <p:custDataLst>
              <p:tags r:id="rId10"/>
            </p:custDataLst>
          </p:nvPr>
        </p:nvSpPr>
        <p:spPr>
          <a:xfrm>
            <a:off x="7084695" y="1894205"/>
            <a:ext cx="176911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8=128bit</a:t>
            </a:r>
          </a:p>
        </p:txBody>
      </p:sp>
      <p:graphicFrame>
        <p:nvGraphicFramePr>
          <p:cNvPr id="49" name="表格 48"/>
          <p:cNvGraphicFramePr/>
          <p:nvPr>
            <p:custDataLst>
              <p:tags r:id="rId11"/>
            </p:custDataLst>
          </p:nvPr>
        </p:nvGraphicFramePr>
        <p:xfrm>
          <a:off x="8609965" y="1833245"/>
          <a:ext cx="1073785" cy="41294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7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89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0" name="文本框 49"/>
          <p:cNvSpPr txBox="1"/>
          <p:nvPr>
            <p:custDataLst>
              <p:tags r:id="rId12"/>
            </p:custDataLst>
          </p:nvPr>
        </p:nvSpPr>
        <p:spPr>
          <a:xfrm>
            <a:off x="8787130" y="148780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bank1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/>
          <p:cNvSpPr txBox="1"/>
          <p:nvPr>
            <p:custDataLst>
              <p:tags r:id="rId13"/>
            </p:custDataLst>
          </p:nvPr>
        </p:nvSpPr>
        <p:spPr>
          <a:xfrm>
            <a:off x="10209530" y="3733800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. . . . . 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>
            <p:custDataLst>
              <p:tags r:id="rId14"/>
            </p:custDataLst>
          </p:nvPr>
        </p:nvSpPr>
        <p:spPr>
          <a:xfrm>
            <a:off x="9683750" y="189928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>
            <p:custDataLst>
              <p:tags r:id="rId15"/>
            </p:custDataLst>
          </p:nvPr>
        </p:nvSpPr>
        <p:spPr>
          <a:xfrm>
            <a:off x="9695180" y="245808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文本框 54"/>
          <p:cNvSpPr txBox="1"/>
          <p:nvPr>
            <p:custDataLst>
              <p:tags r:id="rId16"/>
            </p:custDataLst>
          </p:nvPr>
        </p:nvSpPr>
        <p:spPr>
          <a:xfrm>
            <a:off x="9695180" y="293052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/>
          <p:cNvSpPr txBox="1"/>
          <p:nvPr>
            <p:custDataLst>
              <p:tags r:id="rId17"/>
            </p:custDataLst>
          </p:nvPr>
        </p:nvSpPr>
        <p:spPr>
          <a:xfrm>
            <a:off x="9695180" y="3497580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addr3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>
            <p:custDataLst>
              <p:tags r:id="rId18"/>
            </p:custDataLst>
          </p:nvPr>
        </p:nvSpPr>
        <p:spPr>
          <a:xfrm>
            <a:off x="9695180" y="3984625"/>
            <a:ext cx="723265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addr4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/>
          <p:cNvSpPr txBox="1"/>
          <p:nvPr>
            <p:custDataLst>
              <p:tags r:id="rId19"/>
            </p:custDataLst>
          </p:nvPr>
        </p:nvSpPr>
        <p:spPr>
          <a:xfrm>
            <a:off x="9695180" y="453707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addr5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文本框 58"/>
          <p:cNvSpPr txBox="1"/>
          <p:nvPr>
            <p:custDataLst>
              <p:tags r:id="rId20"/>
            </p:custDataLst>
          </p:nvPr>
        </p:nvSpPr>
        <p:spPr>
          <a:xfrm>
            <a:off x="9683750" y="503237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addr6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文本框 59"/>
          <p:cNvSpPr txBox="1"/>
          <p:nvPr>
            <p:custDataLst>
              <p:tags r:id="rId21"/>
            </p:custDataLst>
          </p:nvPr>
        </p:nvSpPr>
        <p:spPr>
          <a:xfrm>
            <a:off x="9683750" y="552767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addr7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1" name="右箭头 60"/>
          <p:cNvSpPr/>
          <p:nvPr/>
        </p:nvSpPr>
        <p:spPr>
          <a:xfrm rot="16200000">
            <a:off x="7854315" y="1520190"/>
            <a:ext cx="646430" cy="22352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/>
          <p:cNvSpPr txBox="1"/>
          <p:nvPr>
            <p:custDataLst>
              <p:tags r:id="rId22"/>
            </p:custDataLst>
          </p:nvPr>
        </p:nvSpPr>
        <p:spPr>
          <a:xfrm>
            <a:off x="7339330" y="959485"/>
            <a:ext cx="200850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对应一个输入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4" name="文本框 63"/>
          <p:cNvSpPr txBox="1"/>
          <p:nvPr/>
        </p:nvSpPr>
        <p:spPr>
          <a:xfrm>
            <a:off x="3556000" y="326040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/>
            <a:r>
              <a:rPr lang="zh-CN" altLang="en-US" sz="1600" b="0" i="0">
                <a:solidFill>
                  <a:schemeClr val="tx1"/>
                </a:solidFill>
                <a:latin typeface="Segoe WPC"/>
                <a:ea typeface="Segoe WPC"/>
              </a:rPr>
              <a:t>并行度在 </a:t>
            </a:r>
            <a:r>
              <a:rPr lang="en-US" altLang="zh-CN" sz="1600" b="0" i="0">
                <a:solidFill>
                  <a:schemeClr val="tx1"/>
                </a:solidFill>
                <a:latin typeface="Segoe WPC"/>
                <a:ea typeface="Segoe WPC"/>
              </a:rPr>
              <a:t>bank </a:t>
            </a:r>
            <a:r>
              <a:rPr lang="zh-CN" altLang="en-US" sz="1600" b="0" i="0">
                <a:solidFill>
                  <a:schemeClr val="tx1"/>
                </a:solidFill>
                <a:latin typeface="Segoe WPC"/>
                <a:ea typeface="Segoe WPC"/>
              </a:rPr>
              <a:t>维</a:t>
            </a:r>
          </a:p>
        </p:txBody>
      </p:sp>
      <p:sp>
        <p:nvSpPr>
          <p:cNvPr id="67" name="圆角矩形 66"/>
          <p:cNvSpPr/>
          <p:nvPr/>
        </p:nvSpPr>
        <p:spPr>
          <a:xfrm>
            <a:off x="6775450" y="325755"/>
            <a:ext cx="4249420" cy="45085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/>
          <p:cNvSpPr txBox="1"/>
          <p:nvPr/>
        </p:nvSpPr>
        <p:spPr>
          <a:xfrm>
            <a:off x="6989445" y="379095"/>
            <a:ext cx="4318635" cy="32639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核心：并行度在</a:t>
            </a:r>
            <a:r>
              <a:rPr lang="en-US" altLang="zh-CN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bank </a:t>
            </a: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维，便于一拍出数据</a:t>
            </a:r>
          </a:p>
        </p:txBody>
      </p:sp>
      <p:graphicFrame>
        <p:nvGraphicFramePr>
          <p:cNvPr id="70" name="表格 69"/>
          <p:cNvGraphicFramePr/>
          <p:nvPr>
            <p:custDataLst>
              <p:tags r:id="rId23"/>
            </p:custDataLst>
          </p:nvPr>
        </p:nvGraphicFramePr>
        <p:xfrm>
          <a:off x="10854055" y="1811020"/>
          <a:ext cx="1059180" cy="4151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3657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89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1" name="文本框 70"/>
          <p:cNvSpPr txBox="1"/>
          <p:nvPr>
            <p:custDataLst>
              <p:tags r:id="rId24"/>
            </p:custDataLst>
          </p:nvPr>
        </p:nvSpPr>
        <p:spPr>
          <a:xfrm>
            <a:off x="10854055" y="1465580"/>
            <a:ext cx="118364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bank_bias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/>
          <p:cNvSpPr txBox="1"/>
          <p:nvPr>
            <p:custDataLst>
              <p:tags r:id="rId25"/>
            </p:custDataLst>
          </p:nvPr>
        </p:nvSpPr>
        <p:spPr>
          <a:xfrm>
            <a:off x="10758805" y="1894205"/>
            <a:ext cx="127889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16=64bit</a:t>
            </a: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26473-A2DB-A948-0BD1-52DCDEB90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圆角矩形 32">
            <a:extLst>
              <a:ext uri="{FF2B5EF4-FFF2-40B4-BE49-F238E27FC236}">
                <a16:creationId xmlns:a16="http://schemas.microsoft.com/office/drawing/2014/main" id="{53FF36CD-74EF-2687-749C-C0FF88809067}"/>
              </a:ext>
            </a:extLst>
          </p:cNvPr>
          <p:cNvSpPr/>
          <p:nvPr/>
        </p:nvSpPr>
        <p:spPr>
          <a:xfrm>
            <a:off x="4245537" y="4999458"/>
            <a:ext cx="5342890" cy="120713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标题 1">
            <a:extLst>
              <a:ext uri="{FF2B5EF4-FFF2-40B4-BE49-F238E27FC236}">
                <a16:creationId xmlns:a16="http://schemas.microsoft.com/office/drawing/2014/main" id="{0000ACEF-1667-328F-1100-CD74618BF13A}"/>
              </a:ext>
            </a:extLst>
          </p:cNvPr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80365" y="320040"/>
            <a:ext cx="534606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PWconv_conv_core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6455308-C374-5A66-3587-A1629C6D7DD0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31DBB78-322A-39CC-1289-200C6959063D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5C8403-A5EF-7642-169C-9CD47945F160}"/>
              </a:ext>
            </a:extLst>
          </p:cNvPr>
          <p:cNvCxnSpPr/>
          <p:nvPr>
            <p:custDataLst>
              <p:tags r:id="rId5"/>
            </p:custDataLst>
          </p:nvPr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B692B11-1C5E-75F9-7993-85CC017C171C}"/>
              </a:ext>
            </a:extLst>
          </p:cNvPr>
          <p:cNvCxnSpPr/>
          <p:nvPr>
            <p:custDataLst>
              <p:tags r:id="rId6"/>
            </p:custDataLst>
          </p:nvPr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F899B76-742E-B532-6E69-3F511C9D1F1C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F640A477-7FE2-EECC-B586-ECF12F1556C5}"/>
              </a:ext>
            </a:extLst>
          </p:cNvPr>
          <p:cNvCxnSpPr/>
          <p:nvPr>
            <p:custDataLst>
              <p:tags r:id="rId8"/>
            </p:custDataLst>
          </p:nvPr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8D88D35-C575-C97E-969C-8821331DE0B2}"/>
              </a:ext>
            </a:extLst>
          </p:cNvPr>
          <p:cNvCxnSpPr/>
          <p:nvPr>
            <p:custDataLst>
              <p:tags r:id="rId9"/>
            </p:custDataLst>
          </p:nvPr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EB61A99-3B38-CC85-8AA1-C48EDB527723}"/>
              </a:ext>
            </a:extLst>
          </p:cNvPr>
          <p:cNvCxnSpPr/>
          <p:nvPr>
            <p:custDataLst>
              <p:tags r:id="rId10"/>
            </p:custDataLst>
          </p:nvPr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D6B43AC-941E-249B-BD19-A4058288017B}"/>
              </a:ext>
            </a:extLst>
          </p:cNvPr>
          <p:cNvCxnSpPr/>
          <p:nvPr>
            <p:custDataLst>
              <p:tags r:id="rId11"/>
            </p:custDataLst>
          </p:nvPr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FF8385C-343B-8453-900E-620CC82CEA40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A922A23-CED3-338D-35AD-40C8FE765A98}"/>
              </a:ext>
            </a:extLst>
          </p:cNvPr>
          <p:cNvCxnSpPr/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1F5109-CA83-393A-8700-2A92822AD8A8}"/>
              </a:ext>
            </a:extLst>
          </p:cNvPr>
          <p:cNvCxnSpPr/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EE1F661-2B39-2288-654B-8F69BD9C3685}"/>
              </a:ext>
            </a:extLst>
          </p:cNvPr>
          <p:cNvCxnSpPr/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5725759-77A4-19F7-0A3F-90B5F6ACA3AF}"/>
              </a:ext>
            </a:extLst>
          </p:cNvPr>
          <p:cNvCxnSpPr/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5768026-2FBB-4F17-D7AE-D98C881793EF}"/>
              </a:ext>
            </a:extLst>
          </p:cNvPr>
          <p:cNvCxnSpPr/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C382669-5467-091A-78FC-8B845A7BA323}"/>
              </a:ext>
            </a:extLst>
          </p:cNvPr>
          <p:cNvCxnSpPr/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0B9354C-FE5A-859C-6614-8748034850FA}"/>
              </a:ext>
            </a:extLst>
          </p:cNvPr>
          <p:cNvCxnSpPr/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B33D49-EF7C-0E6C-1241-7EDCA8FD64E4}"/>
              </a:ext>
            </a:extLst>
          </p:cNvPr>
          <p:cNvCxnSpPr/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F67439B-F04E-6E55-7992-FB0EA50176A1}"/>
              </a:ext>
            </a:extLst>
          </p:cNvPr>
          <p:cNvCxnSpPr/>
          <p:nvPr>
            <p:custDataLst>
              <p:tags r:id="rId13"/>
            </p:custDataLst>
          </p:nvPr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D859AD07-6EC5-AEEC-DE79-913C96B28E4C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489585" y="3122930"/>
            <a:ext cx="2251710" cy="3011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recv_count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 stage0_valid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stage0_last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in_stream_ready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input_fire = 1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9433EE-C85F-8C37-84CC-BA8732E8766C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485140" y="2348230"/>
            <a:ext cx="2251710" cy="612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 = 1</a:t>
            </a:r>
            <a:r>
              <a:rPr lang="zh-CN" altLang="en-US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开始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in_stream_valid = 1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4675928-65BF-E734-D9A5-332358F7E3FD}"/>
              </a:ext>
            </a:extLst>
          </p:cNvPr>
          <p:cNvSpPr txBox="1"/>
          <p:nvPr/>
        </p:nvSpPr>
        <p:spPr>
          <a:xfrm>
            <a:off x="3556000" y="3337560"/>
            <a:ext cx="5080000" cy="18288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ts val="715"/>
              </a:lnSpc>
            </a:pPr>
            <a:r>
              <a:rPr lang="en-US" altLang="zh-CN" sz="1600" b="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in_stream_valid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B3098D1-2514-4C86-9743-E107C8F260E4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3399155" y="2348230"/>
            <a:ext cx="2573020" cy="1075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recv_count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loaded_pos_count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issue_fire = 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（有库存且总发射小于总数）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03FBF2C7-69D2-37E3-D281-01312D9C8ADB}"/>
              </a:ext>
            </a:extLst>
          </p:cNvPr>
          <p:cNvCxnSpPr/>
          <p:nvPr>
            <p:custDataLst>
              <p:tags r:id="rId17"/>
            </p:custDataLst>
          </p:nvPr>
        </p:nvCxnSpPr>
        <p:spPr>
          <a:xfrm>
            <a:off x="6599248" y="14044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0FB99FB4-B65B-D13D-5C03-B73299E7D5E2}"/>
              </a:ext>
            </a:extLst>
          </p:cNvPr>
          <p:cNvSpPr txBox="1"/>
          <p:nvPr/>
        </p:nvSpPr>
        <p:spPr>
          <a:xfrm>
            <a:off x="4459532" y="5188370"/>
            <a:ext cx="5080000" cy="82994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——</a:t>
            </a: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发射至</a:t>
            </a: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的时机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 = busy &amp;&amp; (issue_count &lt; TOKEN_COUNT) &amp;&amp; (issue_pos &lt; loaded_pos_count)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890A346-8255-FF7B-CA64-34DA4E54E69F}"/>
              </a:ext>
            </a:extLst>
          </p:cNvPr>
          <p:cNvSpPr txBox="1"/>
          <p:nvPr/>
        </p:nvSpPr>
        <p:spPr>
          <a:xfrm>
            <a:off x="4804337" y="6279935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仓库有多余</a:t>
            </a:r>
            <a:r>
              <a:rPr lang="en-US" altLang="zh-CN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级为发射且总发射</a:t>
            </a:r>
            <a:r>
              <a:rPr lang="en-US" altLang="zh-CN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未满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D41CC39-23F7-3CAF-2033-10DB8E8182F4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3387702" y="3460186"/>
            <a:ext cx="2573020" cy="6320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拉高后，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读信号有效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5E2F31-DDD4-4A96-03CD-D3873BAB0CD9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6096000" y="2449762"/>
            <a:ext cx="2573020" cy="197353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检测到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为高，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元数据组获取第一个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，于此同时输入数据根据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stage_pos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截取正确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，与权重和偏置一起进入第一级流水。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8F0C01-0DBB-F881-F848-95FB94C30E2F}"/>
              </a:ext>
            </a:extLst>
          </p:cNvPr>
          <p:cNvSpPr txBox="1"/>
          <p:nvPr/>
        </p:nvSpPr>
        <p:spPr>
          <a:xfrm>
            <a:off x="6163719" y="4092442"/>
            <a:ext cx="2361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issue_bank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7CF365C-53DF-A31E-1E46-A8C0E13E8F32}"/>
              </a:ext>
            </a:extLst>
          </p:cNvPr>
          <p:cNvSpPr txBox="1"/>
          <p:nvPr/>
        </p:nvSpPr>
        <p:spPr>
          <a:xfrm>
            <a:off x="7382510" y="232008"/>
            <a:ext cx="236123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下一批，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根据更新后的</a:t>
            </a:r>
            <a:r>
              <a:rPr lang="en-US" altLang="zh-CN" sz="1600">
                <a:latin typeface="Times New Roman" panose="02020603050405020304" pitchFamily="18" charset="0"/>
                <a:ea typeface="宋体" panose="02010600030101010101" pitchFamily="2" charset="-122"/>
              </a:rPr>
              <a:t>stage0_bank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也是，然后一起进入第一级流水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635150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22*420"/>
  <p:tag name="TABLE_ENDDRAG_RECT" val="345*29*322*420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17*240"/>
  <p:tag name="TABLE_ENDDRAG_RECT" val="695*30*217*240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148*120"/>
  <p:tag name="TABLE_ENDDRAG_RECT" val="667*210*148*120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148*120"/>
  <p:tag name="TABLE_ENDDRAG_RECT" val="667*210*148*120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15*464"/>
  <p:tag name="TABLE_ENDDRAG_RECT" val="311*54*315*464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51*389"/>
  <p:tag name="TABLE_ENDDRAG_RECT" val="167*150*351*389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8*325"/>
  <p:tag name="TABLE_ENDDRAG_RECT" val="571*144*88*325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131*323"/>
  <p:tag name="TABLE_ENDDRAG_RECT" val="602*139*131*323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131*323"/>
  <p:tag name="TABLE_ENDDRAG_RECT" val="602*139*131*323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1115</Words>
  <Application>Microsoft Office PowerPoint</Application>
  <PresentationFormat>宽屏</PresentationFormat>
  <Paragraphs>150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Segoe WPC</vt:lpstr>
      <vt:lpstr>微软雅黑</vt:lpstr>
      <vt:lpstr>Arial</vt:lpstr>
      <vt:lpstr>Consolas</vt:lpstr>
      <vt:lpstr>Times New Roman</vt:lpstr>
      <vt:lpstr>Wingdings</vt:lpstr>
      <vt:lpstr>WPS</vt:lpstr>
      <vt:lpstr>系统级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待做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冯峻</dc:creator>
  <cp:lastModifiedBy>峻 冯</cp:lastModifiedBy>
  <cp:revision>201</cp:revision>
  <dcterms:created xsi:type="dcterms:W3CDTF">2019-06-19T02:08:00Z</dcterms:created>
  <dcterms:modified xsi:type="dcterms:W3CDTF">2026-04-06T07:06:36Z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5480761E8D20486C9F3D31905D392D91_11</vt:lpwstr>
  </property>
</Properties>
</file>