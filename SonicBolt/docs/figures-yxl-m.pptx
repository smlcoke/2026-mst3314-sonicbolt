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AA47739-3D85-4A94-94B9-649406E753A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wconv" id="{C5C68FCE-E216-402E-A62D-1FE2708A7B64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7FE"/>
    <a:srgbClr val="EDD0F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40" y="72"/>
      </p:cViewPr>
      <p:guideLst>
        <p:guide orient="horz" pos="2217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9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10" Type="http://schemas.openxmlformats.org/officeDocument/2006/relationships/tags" Target="../tags/tag98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1" Type="http://schemas.openxmlformats.org/officeDocument/2006/relationships/tags" Target="../tags/tag126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5" Type="http://schemas.openxmlformats.org/officeDocument/2006/relationships/tags" Target="../tags/tag130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tags" Target="../tags/tag125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24" Type="http://schemas.openxmlformats.org/officeDocument/2006/relationships/tags" Target="../tags/tag129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23" Type="http://schemas.openxmlformats.org/officeDocument/2006/relationships/tags" Target="../tags/tag128.xml"/><Relationship Id="rId10" Type="http://schemas.openxmlformats.org/officeDocument/2006/relationships/tags" Target="../tags/tag115.xml"/><Relationship Id="rId19" Type="http://schemas.openxmlformats.org/officeDocument/2006/relationships/tags" Target="../tags/tag124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tags" Target="../tags/tag12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19" Type="http://schemas.openxmlformats.org/officeDocument/2006/relationships/tags" Target="../tags/tag149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8305" y="1661160"/>
            <a:ext cx="1524000" cy="684530"/>
          </a:xfrm>
        </p:spPr>
        <p:txBody>
          <a:bodyPr>
            <a:normAutofit/>
          </a:bodyPr>
          <a:lstStyle/>
          <a:p>
            <a:r>
              <a:rPr lang="zh-CN" altLang="en-US" sz="2400"/>
              <a:t>系统级</a:t>
            </a:r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20060" y="264414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计算</a:t>
            </a:r>
          </a:p>
        </p:txBody>
      </p:sp>
      <p:sp>
        <p:nvSpPr>
          <p:cNvPr id="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7665" y="4790440"/>
            <a:ext cx="812165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单元级</a:t>
            </a:r>
            <a:r>
              <a:rPr lang="en-US" altLang="zh-CN" sz="2400"/>
              <a:t> </a:t>
            </a:r>
            <a:r>
              <a:rPr lang="zh-CN" altLang="en-US" sz="2400"/>
              <a:t>寄存器、储存器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289425" y="1525905"/>
            <a:ext cx="2171700" cy="7518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</a:rPr>
              <a:t>CNN_top.v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534795" y="3249930"/>
            <a:ext cx="4048760" cy="636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tx1"/>
                </a:solidFill>
              </a:rPr>
              <a:t>SA1.v 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SA_2.v SA_3.v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卷积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5732780" y="3249930"/>
            <a:ext cx="4405630" cy="636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tx1"/>
                </a:solidFill>
              </a:rPr>
              <a:t>maxpool_v2.v  relu.v SigLUT.v</a:t>
            </a:r>
          </a:p>
        </p:txBody>
      </p:sp>
      <p:sp>
        <p:nvSpPr>
          <p:cNvPr id="11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7665" y="324993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算子级</a:t>
            </a:r>
          </a:p>
        </p:txBody>
      </p:sp>
      <p:sp>
        <p:nvSpPr>
          <p:cNvPr id="14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788275" y="264414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处理</a:t>
            </a:r>
          </a:p>
        </p:txBody>
      </p:sp>
      <p:sp>
        <p:nvSpPr>
          <p:cNvPr id="15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0783570" y="264414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量化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10287635" y="3249930"/>
            <a:ext cx="1831340" cy="636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tx1"/>
                </a:solidFill>
              </a:rPr>
              <a:t>rescale_*.v</a:t>
            </a:r>
          </a:p>
        </p:txBody>
      </p:sp>
      <p:sp>
        <p:nvSpPr>
          <p:cNvPr id="17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7665" y="530860"/>
            <a:ext cx="33394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助教代码框架梳理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重复计算分析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4384040" y="380365"/>
          <a:ext cx="4102100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326130" y="3154680"/>
            <a:ext cx="74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重复</a:t>
            </a:r>
            <a:r>
              <a:rPr lang="en-US" altLang="zh-CN"/>
              <a:t>12</a:t>
            </a:r>
            <a:r>
              <a:rPr lang="zh-CN" altLang="en-US"/>
              <a:t>行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4104005" y="1361440"/>
            <a:ext cx="162560" cy="42316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/>
          <p:nvPr>
            <p:custDataLst>
              <p:tags r:id="rId4"/>
            </p:custDataLst>
          </p:nvPr>
        </p:nvGraphicFramePr>
        <p:xfrm>
          <a:off x="8803005" y="1174115"/>
          <a:ext cx="2769235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圆角矩形 17"/>
          <p:cNvSpPr/>
          <p:nvPr/>
        </p:nvSpPr>
        <p:spPr>
          <a:xfrm>
            <a:off x="5662930" y="1182370"/>
            <a:ext cx="2748280" cy="4116705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227320" y="1182370"/>
            <a:ext cx="2748280" cy="4116705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861560" y="1182370"/>
            <a:ext cx="2748280" cy="4116705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438015" y="1174115"/>
            <a:ext cx="2748280" cy="4116705"/>
          </a:xfrm>
          <a:prstGeom prst="roundRect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92735" y="854710"/>
            <a:ext cx="314388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问题：</a:t>
            </a:r>
          </a:p>
          <a:p>
            <a:r>
              <a:rPr lang="en-US" altLang="zh-CN"/>
              <a:t>8/16</a:t>
            </a:r>
            <a:r>
              <a:rPr lang="zh-CN" altLang="en-US"/>
              <a:t>重复</a:t>
            </a:r>
          </a:p>
          <a:p>
            <a:r>
              <a:rPr lang="zh-CN" altLang="en-US"/>
              <a:t>解决：</a:t>
            </a:r>
          </a:p>
          <a:p>
            <a:r>
              <a:rPr lang="en-US" altLang="zh-CN"/>
              <a:t>line buffer</a:t>
            </a:r>
            <a:r>
              <a:rPr lang="zh-CN" altLang="en-US"/>
              <a:t>（老办法，寄存器多）</a:t>
            </a:r>
            <a:endParaRPr lang="en-US" altLang="zh-CN"/>
          </a:p>
          <a:p>
            <a:r>
              <a:rPr lang="zh-CN" altLang="en-US"/>
              <a:t>输出驻留（</a:t>
            </a:r>
            <a:r>
              <a:rPr lang="zh-CN" altLang="en-US">
                <a:sym typeface="+mn-ea"/>
              </a:rPr>
              <a:t>①</a:t>
            </a:r>
            <a:r>
              <a:rPr lang="en-US" altLang="zh-CN"/>
              <a:t>16</a:t>
            </a:r>
            <a:r>
              <a:rPr lang="zh-CN" altLang="en-US"/>
              <a:t>组乘单元编号，让某些号的计算结果留在计算单元里</a:t>
            </a:r>
            <a:r>
              <a:rPr lang="en-US" altLang="zh-CN"/>
              <a:t>——</a:t>
            </a:r>
            <a:r>
              <a:rPr lang="zh-CN" altLang="en-US"/>
              <a:t>下一次直接复用，依赖于乘法单元的位置的对应②</a:t>
            </a:r>
            <a:r>
              <a:rPr lang="en-US" altLang="zh-CN"/>
              <a:t>16</a:t>
            </a:r>
            <a:r>
              <a:rPr lang="zh-CN" altLang="en-US"/>
              <a:t>组乘法单元再分上下两组，下组只在第一次中需要计算）</a:t>
            </a:r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827895" y="717550"/>
            <a:ext cx="1169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卷积核</a:t>
            </a:r>
          </a:p>
        </p:txBody>
      </p:sp>
      <p:graphicFrame>
        <p:nvGraphicFramePr>
          <p:cNvPr id="25" name="表格 24"/>
          <p:cNvGraphicFramePr/>
          <p:nvPr>
            <p:custDataLst>
              <p:tags r:id="rId5"/>
            </p:custDataLst>
          </p:nvPr>
        </p:nvGraphicFramePr>
        <p:xfrm>
          <a:off x="113030" y="4325620"/>
          <a:ext cx="17576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230630" y="5910580"/>
            <a:ext cx="161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乘法单元</a:t>
            </a:r>
          </a:p>
        </p:txBody>
      </p:sp>
      <p:graphicFrame>
        <p:nvGraphicFramePr>
          <p:cNvPr id="27" name="表格 26"/>
          <p:cNvGraphicFramePr/>
          <p:nvPr>
            <p:custDataLst>
              <p:tags r:id="rId6"/>
            </p:custDataLst>
          </p:nvPr>
        </p:nvGraphicFramePr>
        <p:xfrm>
          <a:off x="2228850" y="4325620"/>
          <a:ext cx="17576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总线、扇出大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4512310" y="670560"/>
          <a:ext cx="4013200" cy="590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601720" y="3201035"/>
            <a:ext cx="857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line buffer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4312285" y="859155"/>
            <a:ext cx="156845" cy="550418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79755" y="874395"/>
            <a:ext cx="296862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问题：</a:t>
            </a:r>
          </a:p>
          <a:p>
            <a:r>
              <a:rPr lang="zh-CN" altLang="en-US"/>
              <a:t>数据总线大</a:t>
            </a:r>
          </a:p>
          <a:p>
            <a:r>
              <a:rPr lang="zh-CN" altLang="en-US"/>
              <a:t>解决：</a:t>
            </a:r>
          </a:p>
          <a:p>
            <a:r>
              <a:rPr lang="en-US" altLang="zh-CN"/>
              <a:t>line buffer</a:t>
            </a:r>
            <a:r>
              <a:rPr lang="zh-CN" altLang="en-US"/>
              <a:t>（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大小</a:t>
            </a:r>
            <a:r>
              <a:rPr lang="en-US" altLang="zh-CN">
                <a:sym typeface="+mn-ea"/>
              </a:rPr>
              <a:t>0.16KB</a:t>
            </a:r>
            <a:r>
              <a:rPr lang="zh-CN" altLang="en-US"/>
              <a:t>）第一次读</a:t>
            </a:r>
            <a:r>
              <a:rPr lang="en-US" altLang="zh-CN"/>
              <a:t>14</a:t>
            </a:r>
            <a:r>
              <a:rPr lang="zh-CN" altLang="en-US"/>
              <a:t>×</a:t>
            </a:r>
            <a:r>
              <a:rPr lang="en-US" altLang="zh-CN"/>
              <a:t>10</a:t>
            </a:r>
            <a:r>
              <a:rPr lang="zh-CN" altLang="en-US"/>
              <a:t>×</a:t>
            </a:r>
            <a:r>
              <a:rPr lang="en-US" altLang="zh-CN"/>
              <a:t>8</a:t>
            </a:r>
            <a:r>
              <a:rPr lang="zh-CN" altLang="en-US"/>
              <a:t>（或者分</a:t>
            </a:r>
            <a:r>
              <a:rPr lang="en-US" altLang="zh-CN"/>
              <a:t>2</a:t>
            </a:r>
            <a:r>
              <a:rPr lang="zh-CN" altLang="en-US"/>
              <a:t>周期读，一次</a:t>
            </a:r>
            <a:r>
              <a:rPr lang="en-US" altLang="zh-CN"/>
              <a:t>560bits</a:t>
            </a:r>
            <a:r>
              <a:rPr lang="zh-CN" altLang="en-US"/>
              <a:t>），后面八次读进来后两行再换序（整体往上挪</a:t>
            </a:r>
            <a:r>
              <a:rPr lang="en-US" altLang="zh-CN"/>
              <a:t>2</a:t>
            </a:r>
            <a:r>
              <a:rPr lang="zh-CN" altLang="en-US"/>
              <a:t>），这样读的数少了，总线降下来了。（需要换序，不然太乱了，但是换序需要一个周期？每张图多一个周期？考虑并在流水里的话</a:t>
            </a:r>
            <a:r>
              <a:rPr lang="zh-CN" altLang="en-US">
                <a:sym typeface="+mn-ea"/>
              </a:rPr>
              <a:t>这两个周期可以省去</a:t>
            </a:r>
            <a:r>
              <a:rPr lang="zh-CN" altLang="en-US"/>
              <a:t>（比如第一张图的后两个周期开始读后两行</a:t>
            </a:r>
            <a:r>
              <a:rPr lang="en-US" altLang="zh-CN"/>
              <a:t>+</a:t>
            </a:r>
            <a:r>
              <a:rPr lang="zh-CN" altLang="en-US"/>
              <a:t>换序））</a:t>
            </a:r>
          </a:p>
          <a:p>
            <a:r>
              <a:rPr lang="zh-CN" altLang="en-US"/>
              <a:t>原方案为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1×14×10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串行，改位流水，如右图。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是否考虑品乓缓存</a:t>
            </a:r>
            <a:r>
              <a:rPr lang="en-US" altLang="zh-CN"/>
              <a:t>/</a:t>
            </a:r>
            <a:r>
              <a:rPr lang="zh-CN" altLang="en-US"/>
              <a:t>第二张图在第二个周期开始读</a:t>
            </a:r>
          </a:p>
          <a:p>
            <a:endParaRPr lang="en-US" altLang="zh-CN"/>
          </a:p>
        </p:txBody>
      </p:sp>
      <p:sp>
        <p:nvSpPr>
          <p:cNvPr id="36" name="立方体 35"/>
          <p:cNvSpPr/>
          <p:nvPr/>
        </p:nvSpPr>
        <p:spPr>
          <a:xfrm>
            <a:off x="9324340" y="1659255"/>
            <a:ext cx="1312545" cy="4109720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662795" y="5768975"/>
            <a:ext cx="857250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1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977630" y="3477895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9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110345" y="1535430"/>
            <a:ext cx="979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32</a:t>
            </a:r>
          </a:p>
          <a:p>
            <a:endParaRPr lang="en-US" altLang="zh-CN"/>
          </a:p>
        </p:txBody>
      </p:sp>
      <p:sp>
        <p:nvSpPr>
          <p:cNvPr id="40" name="立方体 39"/>
          <p:cNvSpPr/>
          <p:nvPr/>
        </p:nvSpPr>
        <p:spPr>
          <a:xfrm>
            <a:off x="9324340" y="1883410"/>
            <a:ext cx="1090295" cy="407035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627870" y="222123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9022715" y="197485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0252075" y="2164080"/>
            <a:ext cx="857250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4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977630" y="60706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ym typeface="+mn-ea"/>
              </a:rPr>
              <a:t>32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➗</a:t>
            </a:r>
            <a:r>
              <a:rPr lang="en-US" altLang="zh-CN">
                <a:sym typeface="+mn-ea"/>
              </a:rPr>
              <a:t> 4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1=72</a:t>
            </a:r>
            <a:r>
              <a:rPr lang="zh-CN" altLang="en-US">
                <a:sym typeface="+mn-ea"/>
              </a:rPr>
              <a:t>周期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 77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个乘累加的三级流水计算量不匹配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05105" y="2189480"/>
            <a:ext cx="3902710" cy="5163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/>
              <a:t>问题：</a:t>
            </a:r>
          </a:p>
          <a:p>
            <a:r>
              <a:rPr lang="zh-CN" altLang="en-US" sz="2000"/>
              <a:t>第一级</a:t>
            </a:r>
            <a:r>
              <a:rPr lang="en-US" altLang="zh-CN" sz="2000"/>
              <a:t> 7</a:t>
            </a:r>
            <a:r>
              <a:rPr lang="zh-CN" altLang="en-US" sz="2000"/>
              <a:t>个</a:t>
            </a:r>
            <a:r>
              <a:rPr lang="en-US" altLang="zh-CN" sz="2000"/>
              <a:t>8bit</a:t>
            </a:r>
            <a:r>
              <a:rPr lang="zh-CN" altLang="en-US" sz="2000"/>
              <a:t>累加</a:t>
            </a:r>
          </a:p>
          <a:p>
            <a:r>
              <a:rPr lang="zh-CN" altLang="en-US" sz="2000"/>
              <a:t>第二级</a:t>
            </a:r>
            <a:r>
              <a:rPr lang="en-US" altLang="zh-CN" sz="2000"/>
              <a:t> </a:t>
            </a:r>
            <a:r>
              <a:rPr lang="zh-CN" altLang="en-US" sz="2000"/>
              <a:t>六组</a:t>
            </a:r>
            <a:r>
              <a:rPr lang="en-US" altLang="zh-CN" sz="2000"/>
              <a:t>2</a:t>
            </a:r>
            <a:r>
              <a:rPr lang="zh-CN" altLang="en-US" sz="2000"/>
              <a:t>个</a:t>
            </a:r>
            <a:r>
              <a:rPr lang="en-US" altLang="zh-CN" sz="2000"/>
              <a:t>32bit</a:t>
            </a:r>
            <a:r>
              <a:rPr lang="zh-CN" altLang="en-US" sz="2000"/>
              <a:t>加</a:t>
            </a:r>
          </a:p>
          <a:p>
            <a:r>
              <a:rPr lang="zh-CN" altLang="en-US" sz="2000"/>
              <a:t>第三级</a:t>
            </a:r>
            <a:r>
              <a:rPr lang="en-US" altLang="zh-CN" sz="2000"/>
              <a:t> </a:t>
            </a:r>
            <a:r>
              <a:rPr lang="zh-CN" altLang="en-US" sz="2000"/>
              <a:t>一组</a:t>
            </a:r>
            <a:r>
              <a:rPr lang="en-US" altLang="zh-CN" sz="2000"/>
              <a:t>6</a:t>
            </a:r>
            <a:r>
              <a:rPr lang="zh-CN" altLang="en-US" sz="2000"/>
              <a:t>个</a:t>
            </a:r>
            <a:r>
              <a:rPr lang="en-US" altLang="zh-CN" sz="2000"/>
              <a:t>32bit</a:t>
            </a:r>
            <a:r>
              <a:rPr lang="zh-CN" altLang="en-US" sz="2000"/>
              <a:t>加</a:t>
            </a:r>
          </a:p>
          <a:p>
            <a:r>
              <a:rPr lang="zh-CN" altLang="en-US" sz="2000"/>
              <a:t>解决：</a:t>
            </a:r>
          </a:p>
          <a:p>
            <a:r>
              <a:rPr lang="zh-CN" altLang="en-US" sz="2000"/>
              <a:t>两层并行</a:t>
            </a:r>
            <a:r>
              <a:rPr lang="en-US" altLang="zh-CN" sz="2000"/>
              <a:t>CSA+</a:t>
            </a:r>
            <a:r>
              <a:rPr lang="zh-CN" altLang="en-US" sz="2000"/>
              <a:t>一次</a:t>
            </a:r>
            <a:r>
              <a:rPr lang="en-US" altLang="zh-CN" sz="2000"/>
              <a:t>CPA</a:t>
            </a:r>
          </a:p>
          <a:p>
            <a:r>
              <a:rPr lang="en-US" altLang="zh-CN" sz="2000"/>
              <a:t>CSA</a:t>
            </a:r>
            <a:r>
              <a:rPr lang="zh-CN" altLang="en-US" sz="2000"/>
              <a:t>让传播进位只发生一次</a:t>
            </a:r>
          </a:p>
          <a:p>
            <a:endParaRPr lang="zh-CN" altLang="en-US" sz="2000"/>
          </a:p>
          <a:p>
            <a:r>
              <a:rPr lang="en-US" altLang="zh-CN" sz="2000"/>
              <a:t>sign-extend</a:t>
            </a:r>
            <a:r>
              <a:rPr lang="zh-CN" altLang="en-US" sz="2000"/>
              <a:t>的意义（需要吗）</a:t>
            </a:r>
          </a:p>
          <a:p>
            <a:r>
              <a:rPr lang="zh-CN" altLang="en-US" sz="2000"/>
              <a:t>保证符号位</a:t>
            </a:r>
          </a:p>
          <a:p>
            <a:r>
              <a:rPr lang="zh-CN" altLang="en-US" sz="2000"/>
              <a:t>不会溢出</a:t>
            </a:r>
          </a:p>
          <a:p>
            <a:endParaRPr lang="zh-CN" altLang="en-US" sz="2000"/>
          </a:p>
          <a:p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4492950" y="19161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92950" y="193284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321435" y="19161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321814" y="2503781"/>
            <a:ext cx="828040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150299" y="19161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150299" y="193284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978784" y="19161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74402" y="2506722"/>
            <a:ext cx="828040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802887" y="191911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802887" y="193578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8631372" y="191911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636514" y="2500840"/>
            <a:ext cx="828040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565386" y="180368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188622" y="802283"/>
            <a:ext cx="17567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8+8+7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（含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CSA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求和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912022" y="801849"/>
            <a:ext cx="17567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32bit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数求和，再进行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CPA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求和</a:t>
            </a:r>
          </a:p>
        </p:txBody>
      </p:sp>
      <p:sp>
        <p:nvSpPr>
          <p:cNvPr id="66" name="矩形 65"/>
          <p:cNvSpPr/>
          <p:nvPr/>
        </p:nvSpPr>
        <p:spPr>
          <a:xfrm>
            <a:off x="6239274" y="177721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7881277" y="177721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31906" y="-37588"/>
            <a:ext cx="1756716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8bit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乘法结果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sign‑extend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32bit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CSA Tree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做压缩，把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7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个数压到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部分和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”sum&amp;carry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4331335" y="2554605"/>
          <a:ext cx="2809240" cy="4058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4" name="右箭头 33"/>
          <p:cNvSpPr/>
          <p:nvPr/>
        </p:nvSpPr>
        <p:spPr>
          <a:xfrm>
            <a:off x="7228840" y="270065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506970" y="256984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45" name="右箭头 44"/>
          <p:cNvSpPr/>
          <p:nvPr/>
        </p:nvSpPr>
        <p:spPr>
          <a:xfrm>
            <a:off x="7235825" y="303784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513955" y="290703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47" name="右箭头 46"/>
          <p:cNvSpPr/>
          <p:nvPr/>
        </p:nvSpPr>
        <p:spPr>
          <a:xfrm>
            <a:off x="7228840" y="346265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506970" y="333184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49" name="右箭头 48"/>
          <p:cNvSpPr/>
          <p:nvPr/>
        </p:nvSpPr>
        <p:spPr>
          <a:xfrm>
            <a:off x="7235825" y="379984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513955" y="366903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51" name="右箭头 50"/>
          <p:cNvSpPr/>
          <p:nvPr/>
        </p:nvSpPr>
        <p:spPr>
          <a:xfrm>
            <a:off x="7228840" y="416242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506970" y="403161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53" name="右箭头 52"/>
          <p:cNvSpPr/>
          <p:nvPr/>
        </p:nvSpPr>
        <p:spPr>
          <a:xfrm>
            <a:off x="7235825" y="449961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513955" y="436880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55" name="右箭头 54"/>
          <p:cNvSpPr/>
          <p:nvPr/>
        </p:nvSpPr>
        <p:spPr>
          <a:xfrm>
            <a:off x="7228840" y="492442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7506970" y="479361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57" name="右箭头 56"/>
          <p:cNvSpPr/>
          <p:nvPr/>
        </p:nvSpPr>
        <p:spPr>
          <a:xfrm>
            <a:off x="7235825" y="526161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7513955" y="513080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59" name="右箭头 58"/>
          <p:cNvSpPr/>
          <p:nvPr/>
        </p:nvSpPr>
        <p:spPr>
          <a:xfrm>
            <a:off x="7235825" y="559879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7513955" y="546798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61" name="右箭头 60"/>
          <p:cNvSpPr/>
          <p:nvPr/>
        </p:nvSpPr>
        <p:spPr>
          <a:xfrm>
            <a:off x="7242810" y="593598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520940" y="580517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72" name="右箭头 71"/>
          <p:cNvSpPr/>
          <p:nvPr/>
        </p:nvSpPr>
        <p:spPr>
          <a:xfrm>
            <a:off x="7235825" y="636079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513955" y="622998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7758430" y="656717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bias</a:t>
            </a:r>
          </a:p>
        </p:txBody>
      </p:sp>
      <p:sp>
        <p:nvSpPr>
          <p:cNvPr id="77" name="右大括号 76"/>
          <p:cNvSpPr/>
          <p:nvPr/>
        </p:nvSpPr>
        <p:spPr>
          <a:xfrm>
            <a:off x="8586470" y="2720975"/>
            <a:ext cx="209550" cy="11912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右大括号 77"/>
          <p:cNvSpPr/>
          <p:nvPr/>
        </p:nvSpPr>
        <p:spPr>
          <a:xfrm>
            <a:off x="8586470" y="4162425"/>
            <a:ext cx="209550" cy="11912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右大括号 78"/>
          <p:cNvSpPr/>
          <p:nvPr/>
        </p:nvSpPr>
        <p:spPr>
          <a:xfrm>
            <a:off x="8586470" y="5674360"/>
            <a:ext cx="209550" cy="11912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8850630" y="311340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8850630" y="457517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8850630" y="609917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</a:p>
        </p:txBody>
      </p:sp>
      <p:sp>
        <p:nvSpPr>
          <p:cNvPr id="83" name="右大括号 82"/>
          <p:cNvSpPr/>
          <p:nvPr/>
        </p:nvSpPr>
        <p:spPr>
          <a:xfrm>
            <a:off x="9989820" y="3244215"/>
            <a:ext cx="209550" cy="30530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0415270" y="4839335"/>
            <a:ext cx="2054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sum&amp;carry-&gt;CPA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问题</a:t>
            </a:r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79755" y="874395"/>
            <a:ext cx="29686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问题：</a:t>
            </a:r>
          </a:p>
          <a:p>
            <a:r>
              <a:rPr lang="zh-CN" altLang="en-US"/>
              <a:t>构架先将一张特征图</a:t>
            </a:r>
            <a:r>
              <a:rPr lang="en-US" altLang="zh-CN"/>
              <a:t>30</a:t>
            </a:r>
            <a:r>
              <a:rPr lang="en-US" altLang="en-US"/>
              <a:t>×</a:t>
            </a:r>
            <a:r>
              <a:rPr lang="en-US" altLang="zh-CN"/>
              <a:t>10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的数据存入寄存器，再由</a:t>
            </a:r>
            <a:r>
              <a:rPr lang="en-US" altLang="zh-CN"/>
              <a:t>pos</a:t>
            </a:r>
            <a:r>
              <a:rPr lang="zh-CN" altLang="en-US"/>
              <a:t>指路截取</a:t>
            </a:r>
            <a:r>
              <a:rPr lang="en-US" altLang="zh-CN"/>
              <a:t>14</a:t>
            </a:r>
            <a:r>
              <a:rPr lang="en-US" altLang="en-US"/>
              <a:t>×</a:t>
            </a:r>
            <a:r>
              <a:rPr lang="en-US" altLang="zh-CN"/>
              <a:t>10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的数据以及卷积核</a:t>
            </a:r>
            <a:r>
              <a:rPr lang="en-US" altLang="zh-CN"/>
              <a:t>11</a:t>
            </a:r>
            <a:r>
              <a:rPr lang="en-US" altLang="en-US"/>
              <a:t>×</a:t>
            </a:r>
            <a:r>
              <a:rPr lang="en-US" altLang="zh-CN"/>
              <a:t>7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的数据送入</a:t>
            </a:r>
            <a:r>
              <a:rPr lang="en-US" altLang="zh-CN"/>
              <a:t>64</a:t>
            </a:r>
            <a:r>
              <a:rPr lang="zh-CN" altLang="en-US"/>
              <a:t>（</a:t>
            </a:r>
            <a:r>
              <a:rPr lang="en-US" altLang="zh-CN"/>
              <a:t>ch(4) x oy(4) x ox(4)</a:t>
            </a:r>
            <a:r>
              <a:rPr lang="zh-CN" altLang="en-US"/>
              <a:t>）个计算单元中对应的计算单元，这个过程涉及到大量的布局布线，会占用大量的面积</a:t>
            </a:r>
          </a:p>
          <a:p>
            <a:endParaRPr lang="zh-CN" altLang="en-US"/>
          </a:p>
          <a:p>
            <a:r>
              <a:rPr lang="zh-CN" altLang="en-US"/>
              <a:t>加一级流水寄存器，通过分段</a:t>
            </a:r>
            <a:r>
              <a:rPr lang="en-US" altLang="zh-CN"/>
              <a:t>——</a:t>
            </a:r>
            <a:r>
              <a:rPr lang="zh-CN" altLang="en-US"/>
              <a:t>总线，寄存器，</a:t>
            </a:r>
            <a:r>
              <a:rPr lang="en-US" altLang="zh-CN"/>
              <a:t>11</a:t>
            </a:r>
            <a:r>
              <a:rPr lang="zh-CN" altLang="en-US"/>
              <a:t>个乘加，短线简单长线难</a:t>
            </a:r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问题</a:t>
            </a:r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79755" y="874395"/>
            <a:ext cx="29686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问题：</a:t>
            </a:r>
          </a:p>
          <a:p>
            <a:r>
              <a:rPr lang="zh-CN" altLang="en-US"/>
              <a:t>输入</a:t>
            </a:r>
            <a:r>
              <a:rPr lang="en-US" altLang="zh-CN"/>
              <a:t>30</a:t>
            </a:r>
            <a:r>
              <a:rPr lang="zh-CN" altLang="en-US"/>
              <a:t>×</a:t>
            </a:r>
            <a:r>
              <a:rPr lang="en-US" altLang="zh-CN"/>
              <a:t>10</a:t>
            </a:r>
            <a:r>
              <a:rPr lang="zh-CN" altLang="en-US"/>
              <a:t>×</a:t>
            </a:r>
            <a:r>
              <a:rPr lang="en-US" altLang="zh-CN"/>
              <a:t>8bit</a:t>
            </a:r>
            <a:r>
              <a:rPr lang="zh-CN" altLang="en-US"/>
              <a:t>太大了，目前：两份整帧双缓冲</a:t>
            </a:r>
            <a:r>
              <a:rPr lang="en-US" altLang="zh-CN"/>
              <a:t> cache frame_cache0 </a:t>
            </a:r>
            <a:r>
              <a:rPr lang="zh-CN" altLang="en-US"/>
              <a:t>和</a:t>
            </a:r>
            <a:r>
              <a:rPr lang="en-US" altLang="zh-CN"/>
              <a:t> frame_cache1</a:t>
            </a:r>
            <a:r>
              <a:rPr lang="zh-CN" altLang="en-US"/>
              <a:t>（一行</a:t>
            </a:r>
            <a:r>
              <a:rPr lang="en-US" altLang="zh-CN"/>
              <a:t>80bit</a:t>
            </a:r>
            <a:r>
              <a:rPr lang="zh-CN" altLang="en-US"/>
              <a:t>按照乒乓缓存输入），它们分别对应系统语义上的：</a:t>
            </a:r>
            <a:r>
              <a:rPr lang="en-US" altLang="zh-CN"/>
              <a:t>ping</a:t>
            </a:r>
            <a:r>
              <a:rPr lang="zh-CN" altLang="en-US"/>
              <a:t>和</a:t>
            </a:r>
            <a:r>
              <a:rPr lang="en-US" altLang="zh-CN"/>
              <a:t>pong</a:t>
            </a:r>
          </a:p>
          <a:p>
            <a:r>
              <a:rPr lang="zh-CN" altLang="en-US"/>
              <a:t>解决：</a:t>
            </a:r>
          </a:p>
          <a:p>
            <a:r>
              <a:rPr lang="zh-CN" altLang="en-US"/>
              <a:t>再慢可以再加流水输入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待做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写</a:t>
            </a:r>
            <a:r>
              <a:rPr lang="en-US" altLang="zh-CN"/>
              <a:t>CNN_chip.v</a:t>
            </a:r>
            <a:r>
              <a:rPr lang="zh-CN" altLang="en-US"/>
              <a:t>例化接口（</a:t>
            </a:r>
            <a:r>
              <a:rPr lang="en-US" altLang="zh-CN"/>
              <a:t>pad</a:t>
            </a:r>
            <a:r>
              <a:rPr lang="zh-CN" altLang="en-US"/>
              <a:t>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4251325" y="4404995"/>
            <a:ext cx="5342890" cy="120713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80365" y="320040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PWconv_conv_core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分析</a:t>
            </a: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6"/>
            </p:custDataLst>
          </p:nvPr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>
            <p:custDataLst>
              <p:tags r:id="rId7"/>
            </p:custDataLst>
          </p:nvPr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10"/>
            </p:custDataLst>
          </p:nvPr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1"/>
            </p:custDataLst>
          </p:nvPr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489585" y="3122930"/>
            <a:ext cx="2251710" cy="3011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recv_count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 stage0_valid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stage0_last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in_stream_ready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input_fire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485140" y="2348230"/>
            <a:ext cx="2251710" cy="612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 = 1</a:t>
            </a:r>
            <a:r>
              <a:rPr lang="zh-CN" altLang="en-US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in_stream_valid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56000" y="3337560"/>
            <a:ext cx="5080000" cy="1828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15"/>
              </a:lnSpc>
            </a:pPr>
            <a:r>
              <a:rPr lang="en-US" altLang="zh-CN" sz="16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in_stream_valid</a:t>
            </a: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3399155" y="2348230"/>
            <a:ext cx="2573020" cy="191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recv_count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loaded_pos_count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issue_fire = 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（有库存且总发射小于总数）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58535" y="2395220"/>
            <a:ext cx="1639570" cy="1510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stage0_valid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issue_count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issue_group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issue_pos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由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issue_count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计算得到</a:t>
            </a:r>
          </a:p>
        </p:txBody>
      </p:sp>
      <p:cxnSp>
        <p:nvCxnSpPr>
          <p:cNvPr id="31" name="直接连接符 30"/>
          <p:cNvCxnSpPr/>
          <p:nvPr>
            <p:custDataLst>
              <p:tags r:id="rId17"/>
            </p:custDataLst>
          </p:nvPr>
        </p:nvCxnSpPr>
        <p:spPr>
          <a:xfrm>
            <a:off x="6599248" y="14044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465320" y="4593907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发射至</a:t>
            </a: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的时机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 = busy &amp;&amp; (issue_count &lt; TOKEN_COUNT) &amp;&amp; (issue_pos &lt; loaded_pos_count)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810125" y="5685472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仓库有多余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级为发射且总发射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未满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6565" y="154305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PWconv_param_store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分析</a:t>
            </a: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1376680" y="1243965"/>
          <a:ext cx="44577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31520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555750" y="776605"/>
            <a:ext cx="222377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bank0:4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输入通道</a:t>
            </a:r>
          </a:p>
        </p:txBody>
      </p:sp>
      <p:sp>
        <p:nvSpPr>
          <p:cNvPr id="13" name="左大括号 12"/>
          <p:cNvSpPr/>
          <p:nvPr/>
        </p:nvSpPr>
        <p:spPr>
          <a:xfrm rot="5400000">
            <a:off x="2244725" y="432435"/>
            <a:ext cx="114300" cy="14928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>
            <a:off x="1262380" y="1243965"/>
            <a:ext cx="114300" cy="14928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236220" y="1637030"/>
            <a:ext cx="1206500" cy="821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addr0: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输出通道</a:t>
            </a:r>
          </a:p>
        </p:txBody>
      </p:sp>
      <p:sp>
        <p:nvSpPr>
          <p:cNvPr id="36" name="左大括号 35"/>
          <p:cNvSpPr/>
          <p:nvPr/>
        </p:nvSpPr>
        <p:spPr>
          <a:xfrm rot="10800000">
            <a:off x="5944870" y="1351280"/>
            <a:ext cx="76200" cy="490537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6"/>
            </p:custDataLst>
          </p:nvPr>
        </p:nvSpPr>
        <p:spPr>
          <a:xfrm>
            <a:off x="6065520" y="3631565"/>
            <a:ext cx="2223770" cy="590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0~7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depth=8</a:t>
            </a:r>
          </a:p>
        </p:txBody>
      </p:sp>
      <p:sp>
        <p:nvSpPr>
          <p:cNvPr id="38" name="左大括号 37"/>
          <p:cNvSpPr/>
          <p:nvPr/>
        </p:nvSpPr>
        <p:spPr>
          <a:xfrm rot="16200000">
            <a:off x="3546475" y="4276090"/>
            <a:ext cx="90170" cy="44303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7"/>
            </p:custDataLst>
          </p:nvPr>
        </p:nvSpPr>
        <p:spPr>
          <a:xfrm>
            <a:off x="2724150" y="6529070"/>
            <a:ext cx="222377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0~7 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1442720" y="1308100"/>
            <a:ext cx="1671955" cy="132969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箭头 40"/>
          <p:cNvSpPr/>
          <p:nvPr/>
        </p:nvSpPr>
        <p:spPr>
          <a:xfrm>
            <a:off x="3312795" y="1955165"/>
            <a:ext cx="3819525" cy="22352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3" name="表格 42"/>
          <p:cNvGraphicFramePr/>
          <p:nvPr>
            <p:custDataLst>
              <p:tags r:id="rId8"/>
            </p:custDataLst>
          </p:nvPr>
        </p:nvGraphicFramePr>
        <p:xfrm>
          <a:off x="7252970" y="1833245"/>
          <a:ext cx="1125220" cy="41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文本框 43"/>
          <p:cNvSpPr txBox="1"/>
          <p:nvPr>
            <p:custDataLst>
              <p:tags r:id="rId9"/>
            </p:custDataLst>
          </p:nvPr>
        </p:nvSpPr>
        <p:spPr>
          <a:xfrm>
            <a:off x="7442200" y="148780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bank0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0"/>
            </p:custDataLst>
          </p:nvPr>
        </p:nvSpPr>
        <p:spPr>
          <a:xfrm>
            <a:off x="7084695" y="1894205"/>
            <a:ext cx="176911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8=128bit</a:t>
            </a:r>
          </a:p>
        </p:txBody>
      </p:sp>
      <p:graphicFrame>
        <p:nvGraphicFramePr>
          <p:cNvPr id="49" name="表格 48"/>
          <p:cNvGraphicFramePr/>
          <p:nvPr>
            <p:custDataLst>
              <p:tags r:id="rId11"/>
            </p:custDataLst>
          </p:nvPr>
        </p:nvGraphicFramePr>
        <p:xfrm>
          <a:off x="8609965" y="1833245"/>
          <a:ext cx="1073785" cy="412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9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" name="文本框 49"/>
          <p:cNvSpPr txBox="1"/>
          <p:nvPr>
            <p:custDataLst>
              <p:tags r:id="rId12"/>
            </p:custDataLst>
          </p:nvPr>
        </p:nvSpPr>
        <p:spPr>
          <a:xfrm>
            <a:off x="8787130" y="148780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3"/>
            </p:custDataLst>
          </p:nvPr>
        </p:nvSpPr>
        <p:spPr>
          <a:xfrm>
            <a:off x="10209530" y="3733800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. . . . . .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4"/>
            </p:custDataLst>
          </p:nvPr>
        </p:nvSpPr>
        <p:spPr>
          <a:xfrm>
            <a:off x="9683750" y="189928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addr0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5"/>
            </p:custDataLst>
          </p:nvPr>
        </p:nvSpPr>
        <p:spPr>
          <a:xfrm>
            <a:off x="9695180" y="245808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6"/>
            </p:custDataLst>
          </p:nvPr>
        </p:nvSpPr>
        <p:spPr>
          <a:xfrm>
            <a:off x="9695180" y="293052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7"/>
            </p:custDataLst>
          </p:nvPr>
        </p:nvSpPr>
        <p:spPr>
          <a:xfrm>
            <a:off x="9695180" y="3497580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addr3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8"/>
            </p:custDataLst>
          </p:nvPr>
        </p:nvSpPr>
        <p:spPr>
          <a:xfrm>
            <a:off x="9695180" y="3984625"/>
            <a:ext cx="72326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addr4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9"/>
            </p:custDataLst>
          </p:nvPr>
        </p:nvSpPr>
        <p:spPr>
          <a:xfrm>
            <a:off x="9695180" y="453707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addr5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20"/>
            </p:custDataLst>
          </p:nvPr>
        </p:nvSpPr>
        <p:spPr>
          <a:xfrm>
            <a:off x="9683750" y="503237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addr6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21"/>
            </p:custDataLst>
          </p:nvPr>
        </p:nvSpPr>
        <p:spPr>
          <a:xfrm>
            <a:off x="9683750" y="552767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addr7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右箭头 60"/>
          <p:cNvSpPr/>
          <p:nvPr/>
        </p:nvSpPr>
        <p:spPr>
          <a:xfrm rot="16200000">
            <a:off x="7854315" y="1520190"/>
            <a:ext cx="646430" cy="22352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22"/>
            </p:custDataLst>
          </p:nvPr>
        </p:nvSpPr>
        <p:spPr>
          <a:xfrm>
            <a:off x="7339330" y="959485"/>
            <a:ext cx="200850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对应一个输入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Segoe WPC"/>
                <a:ea typeface="Segoe WPC"/>
              </a:rPr>
              <a:t>并行度在 </a:t>
            </a:r>
            <a:r>
              <a:rPr lang="en-US" altLang="zh-CN" sz="1600" b="0" i="0">
                <a:solidFill>
                  <a:schemeClr val="tx1"/>
                </a:solidFill>
                <a:latin typeface="Segoe WPC"/>
                <a:ea typeface="Segoe WPC"/>
              </a:rPr>
              <a:t>bank </a:t>
            </a:r>
            <a:r>
              <a:rPr lang="zh-CN" altLang="en-US" sz="1600" b="0" i="0">
                <a:solidFill>
                  <a:schemeClr val="tx1"/>
                </a:solidFill>
                <a:latin typeface="Segoe WPC"/>
                <a:ea typeface="Segoe WPC"/>
              </a:rPr>
              <a:t>维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6775450" y="325755"/>
            <a:ext cx="4249420" cy="4508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6989445" y="379095"/>
            <a:ext cx="4318635" cy="32639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核心：并行度在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bank 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维，便于一拍出数据</a:t>
            </a:r>
          </a:p>
        </p:txBody>
      </p:sp>
      <p:graphicFrame>
        <p:nvGraphicFramePr>
          <p:cNvPr id="70" name="表格 69"/>
          <p:cNvGraphicFramePr/>
          <p:nvPr>
            <p:custDataLst>
              <p:tags r:id="rId23"/>
            </p:custDataLst>
          </p:nvPr>
        </p:nvGraphicFramePr>
        <p:xfrm>
          <a:off x="10854055" y="1811020"/>
          <a:ext cx="1059180" cy="415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9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1" name="文本框 70"/>
          <p:cNvSpPr txBox="1"/>
          <p:nvPr>
            <p:custDataLst>
              <p:tags r:id="rId24"/>
            </p:custDataLst>
          </p:nvPr>
        </p:nvSpPr>
        <p:spPr>
          <a:xfrm>
            <a:off x="10854055" y="1465580"/>
            <a:ext cx="118364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bank_bias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5"/>
            </p:custDataLst>
          </p:nvPr>
        </p:nvSpPr>
        <p:spPr>
          <a:xfrm>
            <a:off x="10758805" y="1894205"/>
            <a:ext cx="127889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16=64bit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6473-A2DB-A948-0BD1-52DCDEB9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>
            <a:extLst>
              <a:ext uri="{FF2B5EF4-FFF2-40B4-BE49-F238E27FC236}">
                <a16:creationId xmlns:a16="http://schemas.microsoft.com/office/drawing/2014/main" id="{53FF36CD-74EF-2687-749C-C0FF88809067}"/>
              </a:ext>
            </a:extLst>
          </p:cNvPr>
          <p:cNvSpPr/>
          <p:nvPr/>
        </p:nvSpPr>
        <p:spPr>
          <a:xfrm>
            <a:off x="4245537" y="4999458"/>
            <a:ext cx="5342890" cy="120713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0000ACEF-1667-328F-1100-CD74618BF13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80365" y="320040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PWconv_conv_core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分析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6455308-C374-5A66-3587-A1629C6D7DD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31DBB78-322A-39CC-1289-200C6959063D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5C8403-A5EF-7642-169C-9CD47945F16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B692B11-1C5E-75F9-7993-85CC017C171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F899B76-742E-B532-6E69-3F511C9D1F1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640A477-7FE2-EECC-B586-ECF12F1556C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8D88D35-C575-C97E-969C-8821331DE0B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EB61A99-3B38-CC85-8AA1-C48EDB527723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D6B43AC-941E-249B-BD19-A4058288017B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FF8385C-343B-8453-900E-620CC82CEA40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A922A23-CED3-338D-35AD-40C8FE765A98}"/>
              </a:ext>
            </a:extLst>
          </p:cNvPr>
          <p:cNvCxnSpPr/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E1F5109-CA83-393A-8700-2A92822AD8A8}"/>
              </a:ext>
            </a:extLst>
          </p:cNvPr>
          <p:cNvCxnSpPr/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EE1F661-2B39-2288-654B-8F69BD9C3685}"/>
              </a:ext>
            </a:extLst>
          </p:cNvPr>
          <p:cNvCxnSpPr/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5725759-77A4-19F7-0A3F-90B5F6ACA3AF}"/>
              </a:ext>
            </a:extLst>
          </p:cNvPr>
          <p:cNvCxnSpPr/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5768026-2FBB-4F17-D7AE-D98C881793EF}"/>
              </a:ext>
            </a:extLst>
          </p:cNvPr>
          <p:cNvCxnSpPr/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C382669-5467-091A-78FC-8B845A7BA323}"/>
              </a:ext>
            </a:extLst>
          </p:cNvPr>
          <p:cNvCxnSpPr/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0B9354C-FE5A-859C-6614-8748034850FA}"/>
              </a:ext>
            </a:extLst>
          </p:cNvPr>
          <p:cNvCxnSpPr/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6B33D49-EF7C-0E6C-1241-7EDCA8FD64E4}"/>
              </a:ext>
            </a:extLst>
          </p:cNvPr>
          <p:cNvCxnSpPr/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F67439B-F04E-6E55-7992-FB0EA50176A1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859AD07-6EC5-AEEC-DE79-913C96B28E4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89585" y="3122930"/>
            <a:ext cx="2251710" cy="3011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recv_count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 stage0_valid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stage0_last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in_stream_ready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input_fire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9433EE-C85F-8C37-84CC-BA8732E8766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485140" y="2348230"/>
            <a:ext cx="2251710" cy="612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 = 1</a:t>
            </a:r>
            <a:r>
              <a:rPr lang="zh-CN" altLang="en-US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in_stream_valid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675928-65BF-E734-D9A5-332358F7E3FD}"/>
              </a:ext>
            </a:extLst>
          </p:cNvPr>
          <p:cNvSpPr txBox="1"/>
          <p:nvPr/>
        </p:nvSpPr>
        <p:spPr>
          <a:xfrm>
            <a:off x="3556000" y="3337560"/>
            <a:ext cx="5080000" cy="1828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15"/>
              </a:lnSpc>
            </a:pPr>
            <a:r>
              <a:rPr lang="en-US" altLang="zh-CN" sz="16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in_stream_valid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B3098D1-2514-4C86-9743-E107C8F260E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399155" y="2348230"/>
            <a:ext cx="2573020" cy="1075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recv_count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loaded_pos_count = 1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issue_fire = 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（有库存且总发射小于总数）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3FBF2C7-69D2-37E3-D281-01312D9C8ADB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6599248" y="14044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FB99FB4-B65B-D13D-5C03-B73299E7D5E2}"/>
              </a:ext>
            </a:extLst>
          </p:cNvPr>
          <p:cNvSpPr txBox="1"/>
          <p:nvPr/>
        </p:nvSpPr>
        <p:spPr>
          <a:xfrm>
            <a:off x="4459532" y="5188370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发射至</a:t>
            </a: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的时机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 = busy &amp;&amp; (issue_count &lt; TOKEN_COUNT) &amp;&amp; (issue_pos &lt; loaded_pos_count)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90A346-8255-FF7B-CA64-34DA4E54E69F}"/>
              </a:ext>
            </a:extLst>
          </p:cNvPr>
          <p:cNvSpPr txBox="1"/>
          <p:nvPr/>
        </p:nvSpPr>
        <p:spPr>
          <a:xfrm>
            <a:off x="4804337" y="6279935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仓库有多余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级为发射且总发射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未满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41CC39-23F7-3CAF-2033-10DB8E8182F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387702" y="3460186"/>
            <a:ext cx="2573020" cy="6320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拉高后，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读信号有效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5E2F31-DDD4-4A96-03CD-D3873BAB0CD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096000" y="2449762"/>
            <a:ext cx="2573020" cy="19735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检测到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为高，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元数据组获取第一个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tile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，于此同时输入数据根据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stage_pos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[0]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截取正确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，与权重和偏置一起进入第一级流水。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8F0C01-0DBB-F881-F848-95FB94C30E2F}"/>
              </a:ext>
            </a:extLst>
          </p:cNvPr>
          <p:cNvSpPr txBox="1"/>
          <p:nvPr/>
        </p:nvSpPr>
        <p:spPr>
          <a:xfrm>
            <a:off x="6163719" y="4092442"/>
            <a:ext cx="2361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issue_bank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CF365C-53DF-A31E-1E46-A8C0E13E8F32}"/>
              </a:ext>
            </a:extLst>
          </p:cNvPr>
          <p:cNvSpPr txBox="1"/>
          <p:nvPr/>
        </p:nvSpPr>
        <p:spPr>
          <a:xfrm>
            <a:off x="7382510" y="232008"/>
            <a:ext cx="23612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下一批，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Weight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根据更新后的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stage0_bank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也是，然后一起进入第一级流水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351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78DD-B3DD-4F58-9F73-A138C67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8CEDF128-0E6B-4D45-0635-49CE260F44F1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80365" y="320040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PWConv</a:t>
            </a:r>
            <a:r>
              <a:rPr lang="en-US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CN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bank_mult</a:t>
            </a:r>
            <a:endParaRPr lang="zh-CN" altLang="en-US" sz="2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9027140-54B6-94CC-4DD3-1B9EEE485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42583"/>
              </p:ext>
            </p:extLst>
          </p:nvPr>
        </p:nvGraphicFramePr>
        <p:xfrm>
          <a:off x="1852591" y="160513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371B1982-7E8E-1472-1026-7F9BD087B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309574"/>
              </p:ext>
            </p:extLst>
          </p:nvPr>
        </p:nvGraphicFramePr>
        <p:xfrm>
          <a:off x="3602297" y="160513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CAACAC6F-E6CF-FCEB-9C0A-28C4BDF14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864749"/>
              </p:ext>
            </p:extLst>
          </p:nvPr>
        </p:nvGraphicFramePr>
        <p:xfrm>
          <a:off x="5352003" y="160513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54749DF1-935B-D733-FAC8-66062E24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48796"/>
              </p:ext>
            </p:extLst>
          </p:nvPr>
        </p:nvGraphicFramePr>
        <p:xfrm>
          <a:off x="7101709" y="160513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37" name="左大括号 36">
            <a:extLst>
              <a:ext uri="{FF2B5EF4-FFF2-40B4-BE49-F238E27FC236}">
                <a16:creationId xmlns:a16="http://schemas.microsoft.com/office/drawing/2014/main" id="{30D14BDC-599C-0438-BFFF-DA6E0DA76DA8}"/>
              </a:ext>
            </a:extLst>
          </p:cNvPr>
          <p:cNvSpPr/>
          <p:nvPr/>
        </p:nvSpPr>
        <p:spPr>
          <a:xfrm rot="16200000">
            <a:off x="5121231" y="-1133113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EC7636F-A360-8F51-6742-415014E14AB6}"/>
              </a:ext>
            </a:extLst>
          </p:cNvPr>
          <p:cNvSpPr txBox="1"/>
          <p:nvPr/>
        </p:nvSpPr>
        <p:spPr>
          <a:xfrm>
            <a:off x="4737435" y="239186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group0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670DEB0-0ED7-C92D-08BE-953A3DF74AE0}"/>
              </a:ext>
            </a:extLst>
          </p:cNvPr>
          <p:cNvSpPr txBox="1"/>
          <p:nvPr/>
        </p:nvSpPr>
        <p:spPr>
          <a:xfrm>
            <a:off x="2292005" y="1135573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ch0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8A54481-7C61-EFB7-1615-0E36C9387CFC}"/>
              </a:ext>
            </a:extLst>
          </p:cNvPr>
          <p:cNvSpPr txBox="1"/>
          <p:nvPr/>
        </p:nvSpPr>
        <p:spPr>
          <a:xfrm>
            <a:off x="4041711" y="116412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ch1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3CB678E-95E1-B23E-F43E-598609A25A47}"/>
              </a:ext>
            </a:extLst>
          </p:cNvPr>
          <p:cNvSpPr txBox="1"/>
          <p:nvPr/>
        </p:nvSpPr>
        <p:spPr>
          <a:xfrm>
            <a:off x="5805697" y="116412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ch2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97260B6-7378-A09B-C755-067AE620950D}"/>
              </a:ext>
            </a:extLst>
          </p:cNvPr>
          <p:cNvSpPr txBox="1"/>
          <p:nvPr/>
        </p:nvSpPr>
        <p:spPr>
          <a:xfrm>
            <a:off x="7569683" y="116412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ch3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A136D2A-0849-01AE-DBB6-07ED86A57966}"/>
              </a:ext>
            </a:extLst>
          </p:cNvPr>
          <p:cNvSpPr txBox="1"/>
          <p:nvPr/>
        </p:nvSpPr>
        <p:spPr>
          <a:xfrm>
            <a:off x="773748" y="1605130"/>
            <a:ext cx="63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data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7762BA8-D70B-8FC3-6100-23817F6A7C81}"/>
              </a:ext>
            </a:extLst>
          </p:cNvPr>
          <p:cNvSpPr txBox="1"/>
          <p:nvPr/>
        </p:nvSpPr>
        <p:spPr>
          <a:xfrm>
            <a:off x="5971073" y="239186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……7</a:t>
            </a:r>
            <a:endParaRPr lang="zh-CN" altLang="en-US" sz="1600" dirty="0">
              <a:latin typeface="+mj-ea"/>
              <a:ea typeface="+mj-ea"/>
            </a:endParaRPr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7870B86E-5D16-07AA-52B4-55D736C9D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323584"/>
              </p:ext>
            </p:extLst>
          </p:nvPr>
        </p:nvGraphicFramePr>
        <p:xfrm>
          <a:off x="1852591" y="349952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50" name="左大括号 49">
            <a:extLst>
              <a:ext uri="{FF2B5EF4-FFF2-40B4-BE49-F238E27FC236}">
                <a16:creationId xmlns:a16="http://schemas.microsoft.com/office/drawing/2014/main" id="{0080F8F4-82E0-9692-E3B7-1F7E9BF850DC}"/>
              </a:ext>
            </a:extLst>
          </p:cNvPr>
          <p:cNvSpPr/>
          <p:nvPr/>
        </p:nvSpPr>
        <p:spPr>
          <a:xfrm rot="16200000">
            <a:off x="5121231" y="761277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F8CCA53-505C-EF87-69EC-9B3CD9B92F5C}"/>
              </a:ext>
            </a:extLst>
          </p:cNvPr>
          <p:cNvSpPr txBox="1"/>
          <p:nvPr/>
        </p:nvSpPr>
        <p:spPr>
          <a:xfrm>
            <a:off x="4737435" y="428625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group0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B2F9297-20AE-4A8D-E994-AB15AB796992}"/>
              </a:ext>
            </a:extLst>
          </p:cNvPr>
          <p:cNvSpPr txBox="1"/>
          <p:nvPr/>
        </p:nvSpPr>
        <p:spPr>
          <a:xfrm>
            <a:off x="2292005" y="3029963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K0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4937522-02E5-1255-5A6C-59C67584B48E}"/>
              </a:ext>
            </a:extLst>
          </p:cNvPr>
          <p:cNvSpPr txBox="1"/>
          <p:nvPr/>
        </p:nvSpPr>
        <p:spPr>
          <a:xfrm>
            <a:off x="4041711" y="305851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K1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2479775-8285-44F3-2C54-107468954706}"/>
              </a:ext>
            </a:extLst>
          </p:cNvPr>
          <p:cNvSpPr txBox="1"/>
          <p:nvPr/>
        </p:nvSpPr>
        <p:spPr>
          <a:xfrm>
            <a:off x="5805697" y="305851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K2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C036E1-C7C5-FB2B-EACC-469419CBBB43}"/>
              </a:ext>
            </a:extLst>
          </p:cNvPr>
          <p:cNvSpPr txBox="1"/>
          <p:nvPr/>
        </p:nvSpPr>
        <p:spPr>
          <a:xfrm>
            <a:off x="7569683" y="305851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K3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D08ECDA-408C-2659-DA24-C067D9B43E63}"/>
              </a:ext>
            </a:extLst>
          </p:cNvPr>
          <p:cNvSpPr txBox="1"/>
          <p:nvPr/>
        </p:nvSpPr>
        <p:spPr>
          <a:xfrm>
            <a:off x="5971073" y="428625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……7</a:t>
            </a:r>
            <a:endParaRPr lang="zh-CN" altLang="en-US" sz="1600" dirty="0">
              <a:latin typeface="+mj-ea"/>
              <a:ea typeface="+mj-ea"/>
            </a:endParaRPr>
          </a:p>
        </p:txBody>
      </p: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A6F1996B-881F-DA16-C5F3-A23F90F0C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50043"/>
              </p:ext>
            </p:extLst>
          </p:nvPr>
        </p:nvGraphicFramePr>
        <p:xfrm>
          <a:off x="3602297" y="349952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5538A608-BA2E-57B7-6927-B4BF6591C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116908"/>
              </p:ext>
            </p:extLst>
          </p:nvPr>
        </p:nvGraphicFramePr>
        <p:xfrm>
          <a:off x="5352003" y="349952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B5E983CE-D5AC-4489-6969-4BA569091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972906"/>
              </p:ext>
            </p:extLst>
          </p:nvPr>
        </p:nvGraphicFramePr>
        <p:xfrm>
          <a:off x="7101709" y="349952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C313AFD1-C10C-9757-CBAD-A0E96105A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347037"/>
              </p:ext>
            </p:extLst>
          </p:nvPr>
        </p:nvGraphicFramePr>
        <p:xfrm>
          <a:off x="1852590" y="5412672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64" name="左大括号 63">
            <a:extLst>
              <a:ext uri="{FF2B5EF4-FFF2-40B4-BE49-F238E27FC236}">
                <a16:creationId xmlns:a16="http://schemas.microsoft.com/office/drawing/2014/main" id="{345D062F-9971-31CF-8186-B45568F48FD2}"/>
              </a:ext>
            </a:extLst>
          </p:cNvPr>
          <p:cNvSpPr/>
          <p:nvPr/>
        </p:nvSpPr>
        <p:spPr>
          <a:xfrm rot="16200000">
            <a:off x="5121230" y="2674429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A95C21A-A2D0-0562-6491-CB58BDB5F127}"/>
              </a:ext>
            </a:extLst>
          </p:cNvPr>
          <p:cNvSpPr txBox="1"/>
          <p:nvPr/>
        </p:nvSpPr>
        <p:spPr>
          <a:xfrm>
            <a:off x="4737434" y="6199406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group0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D0BDE08-A75B-C692-C05F-960EE7200483}"/>
              </a:ext>
            </a:extLst>
          </p:cNvPr>
          <p:cNvSpPr txBox="1"/>
          <p:nvPr/>
        </p:nvSpPr>
        <p:spPr>
          <a:xfrm>
            <a:off x="2292004" y="4943115"/>
            <a:ext cx="69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29F45F5-DE4F-E19F-D437-15609DEA14D5}"/>
              </a:ext>
            </a:extLst>
          </p:cNvPr>
          <p:cNvSpPr txBox="1"/>
          <p:nvPr/>
        </p:nvSpPr>
        <p:spPr>
          <a:xfrm>
            <a:off x="4041710" y="4971668"/>
            <a:ext cx="784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4703016-3C8F-2BED-51C7-211641E9F095}"/>
              </a:ext>
            </a:extLst>
          </p:cNvPr>
          <p:cNvSpPr txBox="1"/>
          <p:nvPr/>
        </p:nvSpPr>
        <p:spPr>
          <a:xfrm>
            <a:off x="5805696" y="4971668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out2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20F575A-BA92-4E51-5973-7AF129B75837}"/>
              </a:ext>
            </a:extLst>
          </p:cNvPr>
          <p:cNvSpPr txBox="1"/>
          <p:nvPr/>
        </p:nvSpPr>
        <p:spPr>
          <a:xfrm>
            <a:off x="7569682" y="4971668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out3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113C59D-3783-E3D5-385F-2CBEC977D2ED}"/>
              </a:ext>
            </a:extLst>
          </p:cNvPr>
          <p:cNvSpPr txBox="1"/>
          <p:nvPr/>
        </p:nvSpPr>
        <p:spPr>
          <a:xfrm>
            <a:off x="5971072" y="6199406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……7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7F1C9FA-8436-19BC-76AF-0DC4FA518B07}"/>
              </a:ext>
            </a:extLst>
          </p:cNvPr>
          <p:cNvSpPr txBox="1"/>
          <p:nvPr/>
        </p:nvSpPr>
        <p:spPr>
          <a:xfrm>
            <a:off x="640638" y="3499520"/>
            <a:ext cx="904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weight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45168D4-7535-D14F-7462-948D02D9974C}"/>
              </a:ext>
            </a:extLst>
          </p:cNvPr>
          <p:cNvSpPr txBox="1"/>
          <p:nvPr/>
        </p:nvSpPr>
        <p:spPr>
          <a:xfrm>
            <a:off x="805575" y="5390080"/>
            <a:ext cx="57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</a:t>
            </a:r>
            <a:endParaRPr lang="zh-CN" altLang="en-US" sz="1600" dirty="0">
              <a:latin typeface="+mj-ea"/>
              <a:ea typeface="+mj-ea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FB7321FB-7040-9C5F-86D6-B6E61787C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821979"/>
              </p:ext>
            </p:extLst>
          </p:nvPr>
        </p:nvGraphicFramePr>
        <p:xfrm>
          <a:off x="3602296" y="5412672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496A16DE-E39E-3BF2-7651-4D79E2019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27445"/>
              </p:ext>
            </p:extLst>
          </p:nvPr>
        </p:nvGraphicFramePr>
        <p:xfrm>
          <a:off x="7101709" y="5407778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4E4A4D9C-7045-2921-526A-D001C8B2B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506312"/>
              </p:ext>
            </p:extLst>
          </p:nvPr>
        </p:nvGraphicFramePr>
        <p:xfrm>
          <a:off x="5352002" y="5407778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79" name="文本框 78">
            <a:extLst>
              <a:ext uri="{FF2B5EF4-FFF2-40B4-BE49-F238E27FC236}">
                <a16:creationId xmlns:a16="http://schemas.microsoft.com/office/drawing/2014/main" id="{DFF0F2F1-F303-709F-42DB-706D53A4A0D3}"/>
              </a:ext>
            </a:extLst>
          </p:cNvPr>
          <p:cNvSpPr txBox="1"/>
          <p:nvPr/>
        </p:nvSpPr>
        <p:spPr>
          <a:xfrm>
            <a:off x="9173110" y="1605130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index on </a:t>
            </a:r>
            <a:r>
              <a:rPr lang="en-US" altLang="zh-CN" sz="1600" dirty="0" err="1">
                <a:solidFill>
                  <a:srgbClr val="FF0000"/>
                </a:solidFill>
                <a:latin typeface="+mj-ea"/>
                <a:ea typeface="+mj-ea"/>
              </a:rPr>
              <a:t>spatial_idx</a:t>
            </a:r>
            <a:endParaRPr lang="zh-CN" altLang="en-US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D2493D5-97E9-84D0-2AED-07F2CDDCD2D7}"/>
              </a:ext>
            </a:extLst>
          </p:cNvPr>
          <p:cNvSpPr txBox="1"/>
          <p:nvPr/>
        </p:nvSpPr>
        <p:spPr>
          <a:xfrm>
            <a:off x="9173110" y="3531806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index on </a:t>
            </a:r>
            <a:r>
              <a:rPr lang="en-US" altLang="zh-CN" sz="1600" dirty="0" err="1">
                <a:solidFill>
                  <a:srgbClr val="FF0000"/>
                </a:solidFill>
                <a:latin typeface="+mj-ea"/>
                <a:ea typeface="+mj-ea"/>
              </a:rPr>
              <a:t>out_idx</a:t>
            </a:r>
            <a:endParaRPr lang="zh-CN" altLang="en-US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F302F0E1-A47F-8D0A-5687-44F7418A47B6}"/>
              </a:ext>
            </a:extLst>
          </p:cNvPr>
          <p:cNvCxnSpPr/>
          <p:nvPr/>
        </p:nvCxnSpPr>
        <p:spPr>
          <a:xfrm>
            <a:off x="2038350" y="2391864"/>
            <a:ext cx="0" cy="100520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830A037-5B80-646E-F40F-84BC09879FEE}"/>
              </a:ext>
            </a:extLst>
          </p:cNvPr>
          <p:cNvCxnSpPr>
            <a:cxnSpLocks/>
          </p:cNvCxnSpPr>
          <p:nvPr/>
        </p:nvCxnSpPr>
        <p:spPr>
          <a:xfrm flipH="1">
            <a:off x="2442682" y="2330566"/>
            <a:ext cx="1284366" cy="103795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28702AA-61A8-F67E-64D1-16F4FE2ED26A}"/>
              </a:ext>
            </a:extLst>
          </p:cNvPr>
          <p:cNvCxnSpPr>
            <a:cxnSpLocks/>
          </p:cNvCxnSpPr>
          <p:nvPr/>
        </p:nvCxnSpPr>
        <p:spPr>
          <a:xfrm flipH="1">
            <a:off x="2834001" y="2340357"/>
            <a:ext cx="2679795" cy="1041677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80CCC65-B3C6-4F0F-E9C3-2B9E3C3E802A}"/>
              </a:ext>
            </a:extLst>
          </p:cNvPr>
          <p:cNvCxnSpPr>
            <a:cxnSpLocks/>
          </p:cNvCxnSpPr>
          <p:nvPr/>
        </p:nvCxnSpPr>
        <p:spPr>
          <a:xfrm flipH="1">
            <a:off x="3138562" y="2311804"/>
            <a:ext cx="4066149" cy="1055664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5EDEF29-0169-D9F6-632D-210B14FDF5B0}"/>
              </a:ext>
            </a:extLst>
          </p:cNvPr>
          <p:cNvCxnSpPr/>
          <p:nvPr/>
        </p:nvCxnSpPr>
        <p:spPr>
          <a:xfrm>
            <a:off x="2038350" y="4276463"/>
            <a:ext cx="0" cy="100520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EAD710CA-034A-4A7B-9642-A7E51F876920}"/>
              </a:ext>
            </a:extLst>
          </p:cNvPr>
          <p:cNvSpPr txBox="1"/>
          <p:nvPr/>
        </p:nvSpPr>
        <p:spPr>
          <a:xfrm>
            <a:off x="7010885" y="4308536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4 channels * 8</a:t>
            </a:r>
            <a:endParaRPr lang="zh-CN" altLang="en-US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E4CB626-BE23-B2FD-F336-85CAEBF5314A}"/>
              </a:ext>
            </a:extLst>
          </p:cNvPr>
          <p:cNvSpPr txBox="1"/>
          <p:nvPr/>
        </p:nvSpPr>
        <p:spPr>
          <a:xfrm>
            <a:off x="7010885" y="2430188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4 channels * 8</a:t>
            </a:r>
            <a:endParaRPr lang="zh-CN" altLang="en-US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DDF6127-0ADF-B473-0331-A2C0BC03991A}"/>
              </a:ext>
            </a:extLst>
          </p:cNvPr>
          <p:cNvSpPr txBox="1"/>
          <p:nvPr/>
        </p:nvSpPr>
        <p:spPr>
          <a:xfrm>
            <a:off x="9173110" y="5252870"/>
            <a:ext cx="2650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8 group of Partial sum(using current 4 channels of all kernels)</a:t>
            </a:r>
            <a:endParaRPr lang="zh-CN" altLang="en-US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2268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F4DB-CCC0-3176-B014-166DCC2A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C69673B5-5F7A-6E3F-30F7-1AEB93778D70}"/>
              </a:ext>
            </a:extLst>
          </p:cNvPr>
          <p:cNvSpPr/>
          <p:nvPr/>
        </p:nvSpPr>
        <p:spPr>
          <a:xfrm>
            <a:off x="8787475" y="2599415"/>
            <a:ext cx="1380740" cy="1380740"/>
          </a:xfrm>
          <a:prstGeom prst="rect">
            <a:avLst/>
          </a:prstGeom>
          <a:solidFill>
            <a:srgbClr val="FF00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0252FE3-C0AC-66F4-406A-51CFC9BD9433}"/>
              </a:ext>
            </a:extLst>
          </p:cNvPr>
          <p:cNvSpPr/>
          <p:nvPr/>
        </p:nvSpPr>
        <p:spPr>
          <a:xfrm>
            <a:off x="8610158" y="2775256"/>
            <a:ext cx="1380740" cy="1380740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759EC1EA-F090-A1F2-0F8B-C2154A6E6439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80365" y="320040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PWConv</a:t>
            </a:r>
            <a:r>
              <a:rPr lang="en-US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CN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bank_accum</a:t>
            </a:r>
            <a:endParaRPr lang="zh-CN" altLang="en-US" sz="2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61931023-6A58-2124-6315-B6ED6C5ED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550295"/>
              </p:ext>
            </p:extLst>
          </p:nvPr>
        </p:nvGraphicFramePr>
        <p:xfrm>
          <a:off x="423936" y="1474127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64" name="左大括号 63">
            <a:extLst>
              <a:ext uri="{FF2B5EF4-FFF2-40B4-BE49-F238E27FC236}">
                <a16:creationId xmlns:a16="http://schemas.microsoft.com/office/drawing/2014/main" id="{B152C3D3-9632-C60D-5BEE-3D5FFA884926}"/>
              </a:ext>
            </a:extLst>
          </p:cNvPr>
          <p:cNvSpPr/>
          <p:nvPr/>
        </p:nvSpPr>
        <p:spPr>
          <a:xfrm rot="16200000">
            <a:off x="3692576" y="-1264116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EC7059-D4B6-BE80-3696-BAAD4B788F07}"/>
              </a:ext>
            </a:extLst>
          </p:cNvPr>
          <p:cNvSpPr txBox="1"/>
          <p:nvPr/>
        </p:nvSpPr>
        <p:spPr>
          <a:xfrm>
            <a:off x="3308780" y="2260861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group0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CF8700A-78D6-1412-2F53-78B4E31142FC}"/>
              </a:ext>
            </a:extLst>
          </p:cNvPr>
          <p:cNvSpPr txBox="1"/>
          <p:nvPr/>
        </p:nvSpPr>
        <p:spPr>
          <a:xfrm>
            <a:off x="863350" y="1004570"/>
            <a:ext cx="69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FE12061-804A-B2A7-AE1A-3D6BDC488CCA}"/>
              </a:ext>
            </a:extLst>
          </p:cNvPr>
          <p:cNvSpPr txBox="1"/>
          <p:nvPr/>
        </p:nvSpPr>
        <p:spPr>
          <a:xfrm>
            <a:off x="2613056" y="1033123"/>
            <a:ext cx="784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4B9BB89-6F61-AA86-9595-2B7BFD77E9B6}"/>
              </a:ext>
            </a:extLst>
          </p:cNvPr>
          <p:cNvSpPr txBox="1"/>
          <p:nvPr/>
        </p:nvSpPr>
        <p:spPr>
          <a:xfrm>
            <a:off x="4377042" y="1033123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out2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28EDE16-69A4-4A39-CF99-BBA68704D658}"/>
              </a:ext>
            </a:extLst>
          </p:cNvPr>
          <p:cNvSpPr txBox="1"/>
          <p:nvPr/>
        </p:nvSpPr>
        <p:spPr>
          <a:xfrm>
            <a:off x="6141028" y="1033123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out3</a:t>
            </a:r>
            <a:endParaRPr lang="zh-CN" altLang="en-US" sz="1600" dirty="0">
              <a:latin typeface="+mj-ea"/>
              <a:ea typeface="+mj-ea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939B495E-D0DC-AE3F-50D7-000977315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704447"/>
              </p:ext>
            </p:extLst>
          </p:nvPr>
        </p:nvGraphicFramePr>
        <p:xfrm>
          <a:off x="2173642" y="1474127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12243376-0CA8-1BDB-E34D-2515899F8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05255"/>
              </p:ext>
            </p:extLst>
          </p:nvPr>
        </p:nvGraphicFramePr>
        <p:xfrm>
          <a:off x="5673055" y="1469233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C07457B2-7BAD-71FE-8C93-0E15E0EBA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418174"/>
              </p:ext>
            </p:extLst>
          </p:nvPr>
        </p:nvGraphicFramePr>
        <p:xfrm>
          <a:off x="3923348" y="1469233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DE9D34F-555F-587B-90C6-AF3E0CE4C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399920"/>
              </p:ext>
            </p:extLst>
          </p:nvPr>
        </p:nvGraphicFramePr>
        <p:xfrm>
          <a:off x="423936" y="313027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3" name="左大括号 2">
            <a:extLst>
              <a:ext uri="{FF2B5EF4-FFF2-40B4-BE49-F238E27FC236}">
                <a16:creationId xmlns:a16="http://schemas.microsoft.com/office/drawing/2014/main" id="{E79A19D1-39FB-B2CB-DCCA-0DDC73370736}"/>
              </a:ext>
            </a:extLst>
          </p:cNvPr>
          <p:cNvSpPr/>
          <p:nvPr/>
        </p:nvSpPr>
        <p:spPr>
          <a:xfrm rot="16200000">
            <a:off x="3692576" y="392027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53762E-0D1B-6BDC-CF50-19867D5DCC21}"/>
              </a:ext>
            </a:extLst>
          </p:cNvPr>
          <p:cNvSpPr txBox="1"/>
          <p:nvPr/>
        </p:nvSpPr>
        <p:spPr>
          <a:xfrm>
            <a:off x="3308780" y="391700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group1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2310B0-A587-B637-0AAD-76C2B9AC9013}"/>
              </a:ext>
            </a:extLst>
          </p:cNvPr>
          <p:cNvSpPr txBox="1"/>
          <p:nvPr/>
        </p:nvSpPr>
        <p:spPr>
          <a:xfrm>
            <a:off x="863350" y="2660713"/>
            <a:ext cx="69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A01027-F949-8D0D-2990-989278599F3F}"/>
              </a:ext>
            </a:extLst>
          </p:cNvPr>
          <p:cNvSpPr txBox="1"/>
          <p:nvPr/>
        </p:nvSpPr>
        <p:spPr>
          <a:xfrm>
            <a:off x="2613056" y="2689266"/>
            <a:ext cx="784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073497-F6D2-DC9E-F7A7-F6743613834F}"/>
              </a:ext>
            </a:extLst>
          </p:cNvPr>
          <p:cNvSpPr txBox="1"/>
          <p:nvPr/>
        </p:nvSpPr>
        <p:spPr>
          <a:xfrm>
            <a:off x="4377042" y="2689266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out2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522E6D-D9C8-3594-891B-41F1B836C013}"/>
              </a:ext>
            </a:extLst>
          </p:cNvPr>
          <p:cNvSpPr txBox="1"/>
          <p:nvPr/>
        </p:nvSpPr>
        <p:spPr>
          <a:xfrm>
            <a:off x="6141028" y="2689266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out3</a:t>
            </a:r>
            <a:endParaRPr lang="zh-CN" altLang="en-US" sz="1600" dirty="0">
              <a:latin typeface="+mj-ea"/>
              <a:ea typeface="+mj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E9EE8BE-AC7B-163F-0242-76A3342F5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259501"/>
              </p:ext>
            </p:extLst>
          </p:nvPr>
        </p:nvGraphicFramePr>
        <p:xfrm>
          <a:off x="2173642" y="313027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383B705-6429-5F73-613F-640C7AD36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025556"/>
              </p:ext>
            </p:extLst>
          </p:nvPr>
        </p:nvGraphicFramePr>
        <p:xfrm>
          <a:off x="5673055" y="3125376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BD134DD-5015-370E-1584-0BDB143DC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39820"/>
              </p:ext>
            </p:extLst>
          </p:nvPr>
        </p:nvGraphicFramePr>
        <p:xfrm>
          <a:off x="3923348" y="3125376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0D6D8A2-81F0-702A-3239-BB2BD322B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21907"/>
              </p:ext>
            </p:extLst>
          </p:nvPr>
        </p:nvGraphicFramePr>
        <p:xfrm>
          <a:off x="423936" y="5482591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15" name="左大括号 14">
            <a:extLst>
              <a:ext uri="{FF2B5EF4-FFF2-40B4-BE49-F238E27FC236}">
                <a16:creationId xmlns:a16="http://schemas.microsoft.com/office/drawing/2014/main" id="{14F23BAC-DC1B-B9AD-4BF6-B9E84981CD7E}"/>
              </a:ext>
            </a:extLst>
          </p:cNvPr>
          <p:cNvSpPr/>
          <p:nvPr/>
        </p:nvSpPr>
        <p:spPr>
          <a:xfrm rot="16200000">
            <a:off x="3692576" y="2744348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37F5F1-FCDA-D314-4043-ABCA3683373A}"/>
              </a:ext>
            </a:extLst>
          </p:cNvPr>
          <p:cNvSpPr txBox="1"/>
          <p:nvPr/>
        </p:nvSpPr>
        <p:spPr>
          <a:xfrm>
            <a:off x="3308780" y="6269325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group7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B5E3A3-4C61-112B-ACD7-06FAF35A4288}"/>
              </a:ext>
            </a:extLst>
          </p:cNvPr>
          <p:cNvSpPr txBox="1"/>
          <p:nvPr/>
        </p:nvSpPr>
        <p:spPr>
          <a:xfrm>
            <a:off x="863350" y="5013034"/>
            <a:ext cx="69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out0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7EAB7D-33DA-9EC6-0A4D-FB321D08F28B}"/>
              </a:ext>
            </a:extLst>
          </p:cNvPr>
          <p:cNvSpPr txBox="1"/>
          <p:nvPr/>
        </p:nvSpPr>
        <p:spPr>
          <a:xfrm>
            <a:off x="2613056" y="5041587"/>
            <a:ext cx="784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out1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B2FD02-B0D3-D853-97F8-9FE2D6A1480D}"/>
              </a:ext>
            </a:extLst>
          </p:cNvPr>
          <p:cNvSpPr txBox="1"/>
          <p:nvPr/>
        </p:nvSpPr>
        <p:spPr>
          <a:xfrm>
            <a:off x="4377042" y="5041587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out2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C3A0D5-F49D-515E-1122-2F843FB905FC}"/>
              </a:ext>
            </a:extLst>
          </p:cNvPr>
          <p:cNvSpPr txBox="1"/>
          <p:nvPr/>
        </p:nvSpPr>
        <p:spPr>
          <a:xfrm>
            <a:off x="6141028" y="5041587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out3</a:t>
            </a:r>
            <a:endParaRPr lang="zh-CN" altLang="en-US" sz="1600" dirty="0">
              <a:latin typeface="+mj-ea"/>
              <a:ea typeface="+mj-ea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36EE466-973A-7ABE-0D73-5CE58BC7E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584585"/>
              </p:ext>
            </p:extLst>
          </p:nvPr>
        </p:nvGraphicFramePr>
        <p:xfrm>
          <a:off x="2173642" y="5482591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405BE07-A037-C3FE-5A66-00502D0C7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50379"/>
              </p:ext>
            </p:extLst>
          </p:nvPr>
        </p:nvGraphicFramePr>
        <p:xfrm>
          <a:off x="5673055" y="5477697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1E76642A-F964-B645-59FB-E580535AD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843266"/>
              </p:ext>
            </p:extLst>
          </p:nvPr>
        </p:nvGraphicFramePr>
        <p:xfrm>
          <a:off x="3923348" y="5477697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A6D09D81-D99C-D9AE-7F2A-B6460737C878}"/>
              </a:ext>
            </a:extLst>
          </p:cNvPr>
          <p:cNvSpPr txBox="1"/>
          <p:nvPr/>
        </p:nvSpPr>
        <p:spPr>
          <a:xfrm>
            <a:off x="3488303" y="4446433"/>
            <a:ext cx="672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……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44A00614-21A3-1070-84ED-19D5D7F881F6}"/>
              </a:ext>
            </a:extLst>
          </p:cNvPr>
          <p:cNvSpPr/>
          <p:nvPr/>
        </p:nvSpPr>
        <p:spPr>
          <a:xfrm>
            <a:off x="7473379" y="1471014"/>
            <a:ext cx="310370" cy="4379304"/>
          </a:xfrm>
          <a:prstGeom prst="rightBrace">
            <a:avLst>
              <a:gd name="adj1" fmla="val 8333"/>
              <a:gd name="adj2" fmla="val 4973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3BBEB79-17A8-DB02-5D42-C77F5B584768}"/>
              </a:ext>
            </a:extLst>
          </p:cNvPr>
          <p:cNvSpPr/>
          <p:nvPr/>
        </p:nvSpPr>
        <p:spPr>
          <a:xfrm>
            <a:off x="8423323" y="2970296"/>
            <a:ext cx="1380740" cy="1380740"/>
          </a:xfrm>
          <a:prstGeom prst="rect">
            <a:avLst/>
          </a:prstGeom>
          <a:solidFill>
            <a:srgbClr val="92D05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D34DFEB-7F98-461F-7189-5A828A1F20CB}"/>
              </a:ext>
            </a:extLst>
          </p:cNvPr>
          <p:cNvSpPr/>
          <p:nvPr/>
        </p:nvSpPr>
        <p:spPr>
          <a:xfrm>
            <a:off x="8236488" y="3165336"/>
            <a:ext cx="1380740" cy="1380740"/>
          </a:xfrm>
          <a:prstGeom prst="rect">
            <a:avLst/>
          </a:prstGeom>
          <a:solidFill>
            <a:srgbClr val="00B0F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1E2F87E-299E-71B8-486A-14197C85531D}"/>
              </a:ext>
            </a:extLst>
          </p:cNvPr>
          <p:cNvCxnSpPr>
            <a:cxnSpLocks/>
            <a:stCxn id="38" idx="1"/>
          </p:cNvCxnSpPr>
          <p:nvPr/>
        </p:nvCxnSpPr>
        <p:spPr>
          <a:xfrm>
            <a:off x="8236488" y="3855706"/>
            <a:ext cx="13807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238930E-2000-0956-D5B7-9C2E48EC858F}"/>
              </a:ext>
            </a:extLst>
          </p:cNvPr>
          <p:cNvCxnSpPr>
            <a:cxnSpLocks/>
            <a:stCxn id="38" idx="0"/>
            <a:endCxn id="38" idx="2"/>
          </p:cNvCxnSpPr>
          <p:nvPr/>
        </p:nvCxnSpPr>
        <p:spPr>
          <a:xfrm>
            <a:off x="8926858" y="3165336"/>
            <a:ext cx="0" cy="13807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909CAB82-41CA-D0CD-22C4-FBBC592D49ED}"/>
              </a:ext>
            </a:extLst>
          </p:cNvPr>
          <p:cNvCxnSpPr>
            <a:cxnSpLocks/>
            <a:stCxn id="47" idx="0"/>
          </p:cNvCxnSpPr>
          <p:nvPr/>
        </p:nvCxnSpPr>
        <p:spPr>
          <a:xfrm>
            <a:off x="9113693" y="2970296"/>
            <a:ext cx="0" cy="195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DBE1C53-CD17-60BE-935F-28D2D011DE66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9599083" y="3660666"/>
            <a:ext cx="2049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01D8806D-6471-C99A-AEB4-5290E857F8D8}"/>
              </a:ext>
            </a:extLst>
          </p:cNvPr>
          <p:cNvCxnSpPr>
            <a:cxnSpLocks/>
            <a:stCxn id="48" idx="0"/>
          </p:cNvCxnSpPr>
          <p:nvPr/>
        </p:nvCxnSpPr>
        <p:spPr>
          <a:xfrm>
            <a:off x="9300528" y="2775256"/>
            <a:ext cx="0" cy="195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2CC4524-5702-A4B6-E700-1C6BAFEDE47D}"/>
              </a:ext>
            </a:extLst>
          </p:cNvPr>
          <p:cNvCxnSpPr>
            <a:cxnSpLocks/>
            <a:stCxn id="49" idx="0"/>
          </p:cNvCxnSpPr>
          <p:nvPr/>
        </p:nvCxnSpPr>
        <p:spPr>
          <a:xfrm>
            <a:off x="9477845" y="2599415"/>
            <a:ext cx="0" cy="1758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77630054-8753-8BCB-BCFE-8FE91ED7B436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9804063" y="3465626"/>
            <a:ext cx="1868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D0468932-D489-4621-5F01-048A9D88EB5D}"/>
              </a:ext>
            </a:extLst>
          </p:cNvPr>
          <p:cNvCxnSpPr>
            <a:cxnSpLocks/>
            <a:stCxn id="49" idx="3"/>
          </p:cNvCxnSpPr>
          <p:nvPr/>
        </p:nvCxnSpPr>
        <p:spPr>
          <a:xfrm flipH="1">
            <a:off x="9990898" y="3289785"/>
            <a:ext cx="177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404140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2*420"/>
  <p:tag name="TABLE_ENDDRAG_RECT" val="345*29*322*4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7*240"/>
  <p:tag name="TABLE_ENDDRAG_RECT" val="695*30*217*24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48*120"/>
  <p:tag name="TABLE_ENDDRAG_RECT" val="667*210*148*1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48*120"/>
  <p:tag name="TABLE_ENDDRAG_RECT" val="667*210*148*1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5*464"/>
  <p:tag name="TABLE_ENDDRAG_RECT" val="311*54*315*46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1*389"/>
  <p:tag name="TABLE_ENDDRAG_RECT" val="167*150*351*38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*325"/>
  <p:tag name="TABLE_ENDDRAG_RECT" val="571*144*88*32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1*323"/>
  <p:tag name="TABLE_ENDDRAG_RECT" val="602*139*131*32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1*323"/>
  <p:tag name="TABLE_ENDDRAG_RECT" val="602*139*131*32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1293</Words>
  <Application>Microsoft Office PowerPoint</Application>
  <PresentationFormat>宽屏</PresentationFormat>
  <Paragraphs>290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Segoe WPC</vt:lpstr>
      <vt:lpstr>微软雅黑</vt:lpstr>
      <vt:lpstr>Arial</vt:lpstr>
      <vt:lpstr>Consolas</vt:lpstr>
      <vt:lpstr>Times New Roman</vt:lpstr>
      <vt:lpstr>Wingdings</vt:lpstr>
      <vt:lpstr>WPS</vt:lpstr>
      <vt:lpstr>系统级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待做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冯峻</dc:creator>
  <cp:lastModifiedBy>峻 冯</cp:lastModifiedBy>
  <cp:revision>200</cp:revision>
  <dcterms:created xsi:type="dcterms:W3CDTF">2019-06-19T02:08:00Z</dcterms:created>
  <dcterms:modified xsi:type="dcterms:W3CDTF">2026-04-02T16:01:26Z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5480761E8D20486C9F3D31905D392D91_11</vt:lpwstr>
  </property>
</Properties>
</file>